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30f923ae54f12" /><Relationship Type="http://schemas.openxmlformats.org/officeDocument/2006/relationships/extended-properties" Target="/docProps/app.xml" Id="R7100b0b5c27f4bcc" /><Relationship Type="http://schemas.openxmlformats.org/officeDocument/2006/relationships/officeDocument" Target="/ppt/presentation.xml" Id="R62c692921fe140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431b4f000b4809"/>
  </p:sldMasterIdLst>
  <p:notesMasterIdLst>
    <p:notesMasterId xmlns:r="http://schemas.openxmlformats.org/officeDocument/2006/relationships" r:id="Rd83208cd94f84ecf"/>
  </p:notesMasterIdLst>
  <p:sldIdLst>
    <p:sldId xmlns:r="http://schemas.openxmlformats.org/officeDocument/2006/relationships" id="256" r:id="R642dac138a5045ca"/>
    <p:sldId xmlns:r="http://schemas.openxmlformats.org/officeDocument/2006/relationships" id="257" r:id="R7ee74ceb62a94fa9"/>
    <p:sldId xmlns:r="http://schemas.openxmlformats.org/officeDocument/2006/relationships" id="258" r:id="Rd2331d68de4f4c2e"/>
    <p:sldId xmlns:r="http://schemas.openxmlformats.org/officeDocument/2006/relationships" id="259" r:id="R9cd800e5d17645e3"/>
    <p:sldId xmlns:r="http://schemas.openxmlformats.org/officeDocument/2006/relationships" id="260" r:id="R38aa1f829adb4a15"/>
    <p:sldId xmlns:r="http://schemas.openxmlformats.org/officeDocument/2006/relationships" id="261" r:id="Rf93b5c16994847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15903ce4a24900" /><Relationship Type="http://schemas.openxmlformats.org/officeDocument/2006/relationships/slideMaster" Target="/ppt/slideMasters/slideMaster1.xml" Id="Rcf431b4f000b4809" /><Relationship Type="http://schemas.openxmlformats.org/officeDocument/2006/relationships/notesMaster" Target="/ppt/notesMasters/notesMaster1.xml" Id="Rd83208cd94f84ecf" /><Relationship Type="http://schemas.openxmlformats.org/officeDocument/2006/relationships/presProps" Target="/ppt/presProps.xml" Id="Ra5d59d32366c445c" /><Relationship Type="http://schemas.openxmlformats.org/officeDocument/2006/relationships/tableStyles" Target="/ppt/tableStyles.xml" Id="R4643ad8e0f014dd6" /><Relationship Type="http://schemas.openxmlformats.org/officeDocument/2006/relationships/slide" Target="/ppt/slides/slide1.xml" Id="R642dac138a5045ca" /><Relationship Type="http://schemas.openxmlformats.org/officeDocument/2006/relationships/slide" Target="/ppt/slides/slide2.xml" Id="R7ee74ceb62a94fa9" /><Relationship Type="http://schemas.openxmlformats.org/officeDocument/2006/relationships/slide" Target="/ppt/slides/slide3.xml" Id="Rd2331d68de4f4c2e" /><Relationship Type="http://schemas.openxmlformats.org/officeDocument/2006/relationships/slide" Target="/ppt/slides/slide4.xml" Id="R9cd800e5d17645e3" /><Relationship Type="http://schemas.openxmlformats.org/officeDocument/2006/relationships/slide" Target="/ppt/slides/slide5.xml" Id="R38aa1f829adb4a15" /><Relationship Type="http://schemas.openxmlformats.org/officeDocument/2006/relationships/slide" Target="/ppt/slides/slide6.xml" Id="Rf93b5c16994847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5f3babeb15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27a692b61141cf" /><Relationship Type="http://schemas.openxmlformats.org/officeDocument/2006/relationships/notesMaster" Target="/ppt/notesMasters/notesMaster1.xml" Id="Ra7a6bf56565443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ac622d19374d9b" /><Relationship Type="http://schemas.openxmlformats.org/officeDocument/2006/relationships/notesMaster" Target="/ppt/notesMasters/notesMaster1.xml" Id="Rad50c2b5af284b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f003ca88c44c08" /><Relationship Type="http://schemas.openxmlformats.org/officeDocument/2006/relationships/notesMaster" Target="/ppt/notesMasters/notesMaster1.xml" Id="R803866fa79db4f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4d668d73b64713" /><Relationship Type="http://schemas.openxmlformats.org/officeDocument/2006/relationships/notesMaster" Target="/ppt/notesMasters/notesMaster1.xml" Id="R189c0fb791db4d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70f81691224e29" /><Relationship Type="http://schemas.openxmlformats.org/officeDocument/2006/relationships/notesMaster" Target="/ppt/notesMasters/notesMaster1.xml" Id="Rb50da43ea73245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49301bc5064eb9" /><Relationship Type="http://schemas.openxmlformats.org/officeDocument/2006/relationships/notesMaster" Target="/ppt/notesMasters/notesMaster1.xml" Id="Rb3ff80ec2e2240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README AirCheck и документах проекта. Физические датчики и ESP32 пока не подключены. Визуальный блок на слайде является редактируемой схемой интерфейса, а не показанием реального устройства.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https://www.epa.gov/indoor-air-quality-iaq/indoor-pollutants-and-sources ; https://www.ashrae.org/technical-resources/bookstore/standards-62-1-62-2 ; https://www.consultant.ru/document/cons_doc_LAW_375839/ ; https://protect.gost.ru/sp/details/b00f766e-b861-4cc7-a448-c65906490262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проблемной формулировке из docs/актуальность-темы.md и на требованиях проекта к прогнозу CO₂, автоматике, ручному режиму окна, очереди команд и подтверждённому состоянию.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аналогов: https://help.aranet.com/aranet4/aranet4-home/general/what-does-the-aranet4-do ; https://www.airthings.com/en/view-plus ; https://www.rylosystems.com/en_US/products/sanobreeze-co2-vent-controller ; https://www.airgradient.com/home-assistant/ ; https://www.home-assistant.io/docs/automation . Минус в таблице означает отсутствие функции в рассмотренном официальном описании. Таблица создана как редактируемый объект.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README AirCheck, docs/ml.md и docs/ТЗ-поправка-03-climate-control.md. В проекте предусмотрены измерения внутри и снаружи, прогноз CO₂ на 15 минут, рекомендации, отдельные каналы вытяжки и притока, автоматическое окно, reported/desired состояния и очередь команд.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основано на README AirCheck и разделах docs/ТЗ-поправка-03-climate-control.md и docs/ml.md. Ограничения отражают текущее состояние проекта: физическая ESP32 и реальные датчики ещё не подключены, simulator использует будущий контракт устройства.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f4599d18c47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1e4d4996374f76" /><Relationship Type="http://schemas.openxmlformats.org/officeDocument/2006/relationships/slideLayout" Target="/ppt/slideLayouts/slideLayout1.xml" Id="R5210b23474fd45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10b23474fd45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f2bbd667e43c9" /><Relationship Type="http://schemas.openxmlformats.org/officeDocument/2006/relationships/notesSlide" Target="/ppt/notesSlides/notesSlide1.xml" Id="R4c88b144906543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0a7a5c60743df" /><Relationship Type="http://schemas.openxmlformats.org/officeDocument/2006/relationships/notesSlide" Target="/ppt/notesSlides/notesSlide2.xml" Id="Rfa410bec107d4b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c413428214624" /><Relationship Type="http://schemas.openxmlformats.org/officeDocument/2006/relationships/notesSlide" Target="/ppt/notesSlides/notesSlide3.xml" Id="R4743a8efc77242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c289d14d24bae" /><Relationship Type="http://schemas.openxmlformats.org/officeDocument/2006/relationships/notesSlide" Target="/ppt/notesSlides/notesSlide4.xml" Id="R98e197b77ee5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27c495fb54fec" /><Relationship Type="http://schemas.openxmlformats.org/officeDocument/2006/relationships/notesSlide" Target="/ppt/notesSlides/notesSlide5.xml" Id="Rbd4631893c844c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4fe7e4e884a24" /><Relationship Type="http://schemas.openxmlformats.org/officeDocument/2006/relationships/notesSlide" Target="/ppt/notesSlides/notesSlide6.xml" Id="R79f9bf1165234d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3511FC-2332-4111-9D20-56C83C91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Актуальность темы дипломной работы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D70D8-091F-4040-B2D4-45668363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FB545-3D9C-4C0B-A27E-0F8357A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3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Мониторинг и управление</a:t>
            </a:r>
          </a:p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качеством воздуха в помещении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5C637-5719-4EB3-A639-04251230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Интеллектуальная IoT-система на основе прогноза CO₂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8F195-5859-42BE-9E45-0C72341D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56510-7CDA-48FA-BD68-8893A0A6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Одна комната. Данные датчиков. Решение о проветривании.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DEB56-4B98-450D-B599-12DC6AB7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Дипломная работа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F8A86-978B-45DF-ACBB-01975ED6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876300"/>
            <a:ext cx="4343400" cy="49530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64869-F528-419E-A7EA-F1EB3AA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19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комнаты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621E2-C8DB-4032-99D8-5E3415D4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04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узел room-01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C2D80-A1BA-46A6-BE5B-FC4D1F7A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219200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3828D-6169-4F71-B3DA-B3151C48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228725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online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BF2C2-FB13-42A4-A02C-A8C57305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4310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1FCEF-EA0C-4F79-8826-D834205A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71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CO₂ сейчас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F21FD-DFAF-480F-ACBA-B4C84BB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717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7A6F4-E8EC-40A4-B482-DD4DF3CB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ppm, в пределах нормы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28ADD-C7A9-46EF-9B08-0C00D955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F9F97-1F22-413B-BE26-7DB0ADCE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717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59A2C-30B9-4BEC-BF4C-CE228A5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96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минут до следующей оценки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FDB2F-2B62-4689-A904-CE95CA58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5755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3BB2A-5400-44E5-AC98-875C03C6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86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Климатический контур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686E1-D4FB-429C-81A4-2835EA56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5A0BB-2E47-45AE-88BE-6B1D550A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2905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выкл.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A2DFD-66FD-4088-96B0-98EE5E5F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24325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8254F-F270-4C64-8374-F8EF6D59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576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BE543-40DC-45E9-B3D2-C61CBE29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576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выкл.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89E009-2EFA-412C-9031-81287A41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52950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A727C1-BE58-4F49-BEA1-EC21534A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86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8474A-3870-4E53-B4DA-86F0CFAA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863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закрыто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93AD2-B439-4BC7-8697-A583CFE1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81575"/>
            <a:ext cx="365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4982E-4894-42E4-81F1-93A31F85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34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прогноз, рекомендация, команда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D80A4A-68BF-4900-8AB2-B931A608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9D3D27-598C-454E-8ABC-F29B0F33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2009846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0EC5B-B551-4821-8407-CE417C15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Параметры воздуха меняются в течение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FFED6-1E50-4837-A92C-E0B4F0DB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Контекст задачи: одна комната с локальным IoT-узлом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EE117-D54F-4A7A-82A7-52F0DAA1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342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На состояние воздуха влияют</a:t>
            </a:r>
          </a:p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условия внутри комнаты</a:t>
            </a:r>
          </a:p>
          <a:p xmlns:a="http://schemas.openxmlformats.org/drawingml/2006/main">
            <a:pPr algn="l">
              <a:def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 за окном.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BF6EB-209E-4359-9050-08716319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Без измерений рост CO₂ и PM2.5</a:t>
            </a:r>
          </a:p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может оставаться незаметным.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E5F64-3331-4A0E-8032-E9A508D7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21907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57BF8-06CA-40AC-AE02-8F7DE1CB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05100"/>
            <a:ext cx="17335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</a:t>
            </a:r>
          </a:p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воздуха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6044C-F124-4EF8-8DD7-0AE8C042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FD43C-114B-4EAA-9D13-12CCB35B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573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924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2400E"/>
                </a:solidFill>
                <a:latin typeface="Helvetica Neue"/>
                <a:ea typeface="Helvetica Neue"/>
                <a:cs typeface="Helvetica Neue"/>
              </a:rPr>
              <a:t>Люди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7E335-A95D-4317-B3E3-DC2955ED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6210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264CB-EAF7-4071-910A-B1680BB0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573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D4E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D4ED8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41054-29C6-4200-ACB4-3A14E19E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0055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5EAEF-EE78-4BAD-97D8-FF3E95CB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958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515FC-744C-4243-A98C-D8B8DBCB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00550"/>
            <a:ext cx="1809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A3A2C-1E38-405D-A59B-19A0788C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9580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Внешняя среда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667500" y="1857375"/>
            <a:ext cx="1666875" cy="5619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1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8334375" y="1857375"/>
            <a:ext cx="1457325" cy="5619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5" idx="4"/>
          </p:cNvCxnSpPr>
          <p:nvPr/>
        </p:nvCxnSpPr>
        <p:spPr>
          <a:xfrm xmlns:a="http://schemas.openxmlformats.org/drawingml/2006/main" flipV="1">
            <a:off x="6667500" y="3810000"/>
            <a:ext cx="1666875" cy="8858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3" idx="1"/>
            <a:endCxn xmlns:a="http://schemas.openxmlformats.org/drawingml/2006/main" id="5" idx="4"/>
          </p:cNvCxnSpPr>
          <p:nvPr/>
        </p:nvCxnSpPr>
        <p:spPr>
          <a:xfrm xmlns:a="http://schemas.openxmlformats.org/drawingml/2006/main" flipH="1" flipV="1">
            <a:off x="8334375" y="3810000"/>
            <a:ext cx="1457325" cy="8858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B977B-46BD-4739-A856-7AA57E9D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B3550-FF06-439F-B628-B409BF61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Нормативная рамка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EEC65-F7B9-457E-A678-EEB68B8D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006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СанПиН 1.2.3685-21 и СП 60.13330.2020 задают требования к микроклимату, вентиляции и качеству воздуха в зданиях.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E366B-E183-4866-9015-579876A4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006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EPA и ASHRAE связывают качество воздуха с источниками загрязнения, воздухообменом и эксплуатацией вентиляции.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31E0E-4F7C-47B8-995A-14EBAD4A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DEBD4-3BA7-4B82-A8E9-9706A009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337826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05BEF3-3488-4047-A9C6-530CCFA1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Текущего значения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36209-2DDA-49D3-9E3D-FC0A5B44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Решение о проветривании зависит от того, видит ли система динамику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95E7C-F2BF-4280-BFED-12CE107C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Текущий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FD8DA-F533-49DA-9C41-3C41B0BE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0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Человек реагирует после роста показателя.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1BDD2-140F-44B2-B7F4-89630550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F85D-2547-4493-969C-E0E94DC6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Текущее значение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B4EA9-27F2-42EE-A3CF-4B05231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81300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FFA7E-2B8E-48CD-A4A6-E179FA0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Человек замечает рост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F0054-D0D6-4C4C-82EC-ECC5E54A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C27A9-1E9C-4ED9-A208-87E844E7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Ручное 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C5E6F-309E-4AC6-958F-E7B1625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1257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F958B-45D4-41C5-A41B-747F6209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24175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Включение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57400" y="31527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62350" y="31527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067300" y="31527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07B8C-9CD6-4F73-AC05-87E196DF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Реакция начинается после изменения.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E2FFB-D6F9-46F2-912E-33F986B9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Целевой сценарий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B1F28-2E37-4D92-A198-37AADCFB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Система учитывает динамику и подтверждает результат.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F5556-43C4-4DD8-925B-F38ABC78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933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8375F-DF37-43CE-8D62-97CC1548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Показания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F01D33-7564-4A78-BC6C-49551D7D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933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665717-3A69-4871-A8FF-6D33FCD9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15 минут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5FF08-BD2A-4E3C-AC2D-6D6F064D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933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7C8B5-2704-4638-875E-1E203B6D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3370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D2201-F0C9-46B9-97C0-4D08D1B4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81300"/>
            <a:ext cx="933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6505D-AEA2-4B32-9195-4ADE69D6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3370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FB0BE-83E4-44EC-B386-2B03D053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81300"/>
            <a:ext cx="933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B9854-4FB6-495F-9F56-225737D0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93370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Подтверждение</a:t>
            </a:r>
          </a:p>
        </p:txBody>
      </p:sp>
      <p:cxnSp>
        <p:nvCxnSpPr>
          <p:cNvPr id="67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0095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0B98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68680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0B98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7265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0B98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085850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0B981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0BF673-EAB8-47C1-A80B-52028801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Решение появляется до критического роста и остаётся проверяемым.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5AC829-DE22-4CF3-B9DA-865D75EE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3F578B-D207-4FF6-BD49-3C186CA7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Практическая задача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E607DC-F018-4C83-943B-9A049037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816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измерение, прогноз, рекомендацию и управление в одном локальном контуре для одной комнаты.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78C9D4-B39E-4055-82C3-5FA20C22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750849-140D-4A4E-BEEE-7EEBAC57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739140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BF2FF-DD13-45D2-B8AA-199A14D9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Аналоги закрывают отдельные части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99E53-A51F-45F4-9741-D9B1A6E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Сравнение функций в выбранном масштабе одной комнаты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904875"/>
                <a:gridCol w="952500"/>
                <a:gridCol w="1238250"/>
                <a:gridCol w="1190625"/>
                <a:gridCol w="809625"/>
                <a:gridCol w="923925"/>
              </a:tblGrid>
              <a:tr h="4953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Датчики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История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Прогноз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Рекомендация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Вентиляция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Окно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Локально</a:t>
                      </a:r>
                    </a:p>
                  </a:txBody>
                  <a:tcPr marL="91440" marR="91440" marT="45720" marB="45720" anchor="ctr"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Aranet4 HOME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CO₂, T, RH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B4530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±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B4530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±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</a:tr>
              <a:tr h="6096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Airthings View Plus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CO₂, PM2.5, T/RH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B4530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B4530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Sanobreeze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CO₂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FBFBFB"/>
                    </a:solidFill>
                  </a:tcPr>
                </a:tc>
              </a:tr>
              <a:tr h="6096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AirGradient + Home Assistant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0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CO₂, PM2.5, T/RH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6B728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B4530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B4530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AirCheck</a:t>
                      </a:r>
                    </a:p>
                  </a:txBody>
                  <a:tcPr marL="91440" marR="91440" marT="45720" marB="45720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37415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CO₂, PM2.5, T/RH</a:t>
                      </a:r>
                    </a:p>
                  </a:txBody>
                  <a:tcPr marL="91440" marR="91440" marT="45720" marB="45720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4785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B4408-7593-418F-A20B-373D1CA5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Плюс означает заявленную или реализованную функцию. Минус означает, что функция не заявлена в рассмотренных материалах. Плюс-минус показывает частичную поддержку или необходимость настройки.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40DBF-7A0A-4679-8380-152236CA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292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1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Источники: официальные описания решений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C306B-F847-4C14-BFBA-835944E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F3F90-8B1C-4D88-93D6-DF2F91E2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743528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E12C7F-B8AC-49B6-8011-7D19182D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 связывает измерение с действием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34C82-AF5E-48E0-808A-C05E7941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Проектный контур для одной комнаты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F9BBF-DA34-404E-A4D1-DD3E9EC9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9240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3C03B-1A99-4E26-8286-8504B1F7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FB3C4-0B21-4E04-B477-F85D00D4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B8FB2-E1A6-4125-9509-C4B2EEAB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внутри / снаружи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0FFB0-3F42-4D54-99CC-C8359252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6450"/>
            <a:ext cx="19240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822CC-EEB5-47F2-B7B6-B9C4F255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47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CC273-9C66-464D-8F31-7696A24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F4609-4111-413A-9C48-C6280BC7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2CF76-A3A6-42AC-8C17-11D95843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19240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21723-1886-4A37-BD8C-BBB8C698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47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3662D-3D7B-4911-B51D-8E09761F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146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B2FE87-90AE-41DC-9679-BE0EBDE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15 минут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21A5F-FF23-49A8-990E-F9A6500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76450"/>
            <a:ext cx="19240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B53E9-0DBD-44C2-9B6F-E2337EB0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7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D575A-E1FB-495C-9B36-66A04DD9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9A42A-C81A-4AF3-9385-6739E134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E67D4-376A-429A-91EC-2AD1BE98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9240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9AF71-A902-4653-8119-10801923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79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1068D-4CA5-4474-8BF8-7104DF49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146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Команды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92548-E268-4DBE-A672-AF1B532B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95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вытяжка / приток / окно</a:t>
            </a:r>
          </a:p>
        </p:txBody>
      </p:sp>
      <p:cxnSp>
        <p:nvCxnSpPr>
          <p:cNvPr id="56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5270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0060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4850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0B981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296400" y="2686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97AA1-D5CE-43D0-A0B2-9A1F9DD2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6918A7-7B1A-4687-8060-F31AE1F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Состояние и управление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7349B-4E84-466E-A035-26554E18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Ручная команда сохраняется до следующего решения оператора.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F1F446-4BEE-4FD0-9DDF-DB613ECC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81525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desired и reported состояния разделены. Команда считается выполненной только после подтверждения от узла.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8D6AE1-372B-48BE-98F3-94E6BB66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81525"/>
            <a:ext cx="3124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5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Статус узла: online, stale или offline. Ожидающие команды остаются в очереди.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EFD9AA-6022-404A-9480-5DCDE9E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32BF68-F543-430E-B0C2-FC346B7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7167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16C42-E666-4486-BE00-79618323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Цель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810AC-482A-4C44-A1F2-DB07253E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Что именно должна проверить дипломная работа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6A1FD-CB04-41D6-9156-6D9726C0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4286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26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 локальный сценарий</a:t>
            </a:r>
          </a:p>
          <a:p xmlns:a="http://schemas.openxmlformats.org/drawingml/2006/main">
            <a:pPr algn="l">
              <a:defRPr sz="24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для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12D6A-06BB-4A89-845E-91F3B985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по данным датчиков оценивает состояние воздуха, прогнозирует изменение CO₂ и поддерживает ручное или автоматическое управление проветриванием.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A76AC-08B3-4225-B63B-F1423754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8C7DC-1B15-42F4-976F-085A0550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460B9-1BEB-43AD-91FB-3EBE6016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 проекте уже есть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4C0FC-61FD-40FC-9017-56F90793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панель, PostgreSQL, прогноз CO₂, рекомендации, настройки автоматики и очередь команд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AFB9C-7510-41B3-99C3-42FB947C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07648-F47F-4045-9306-DF85E166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F601A-F3E9-4EFB-A402-2CED48B9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Проверяется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11182-2993-4AF5-BD31-B8A134EC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23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рост CO₂, ручное управление окном, автоматическое проветривание и подтверждение состояния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4DACA-C1F0-4EB8-A783-63E454E4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C2F66-0A96-47CC-A557-EB5CCADA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14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A695C-1438-4704-AC0B-C720197D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Пока отсутствует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141BC-0D8D-40AF-A961-7B39B66E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физическая ESP32, реальные датчики, фильтр, моторы и механизм окна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5AD74-BC44-4536-8718-44A1D34E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435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C0CA7-A3C3-4FE0-9499-1AA066B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2150"/>
            <a:ext cx="1219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D692F-B8DB-4A08-944B-F77E10B5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1A1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1A1AA"/>
                </a:solidFill>
                <a:latin typeface="Helvetica Neue"/>
                <a:ea typeface="Helvetica Neue"/>
                <a:cs typeface="Helvetica Neue"/>
              </a:rPr>
              <a:t>Актуальность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DAEDB-49D3-4064-9A37-6A5FE512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962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23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Связать данные датчиков, прогноз и подтверждённое действие в одном локальном контуре.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A43DC-2AF0-4D6C-860E-A41C8E84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381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1A1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A1A1AA"/>
                </a:solidFill>
                <a:latin typeface="Helvetica Neue"/>
                <a:ea typeface="Helvetica Neue"/>
                <a:cs typeface="Helvetica Neue"/>
              </a:rPr>
              <a:t>AirCheck / дипломная работа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640713-4C94-4161-89A7-C6F05B76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1A1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1A1AA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CB5F71-9031-4CFB-8D3A-3215934A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A1A1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A1A1AA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2014992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2026-09-11T14:01:53.3220000Z</dcterms:created>
  <dcterms:modified xsi:type="dcterms:W3CDTF">2026-09-11T14:01:53.3220000Z</dcterms:modified>
</coreProperties>
</file>