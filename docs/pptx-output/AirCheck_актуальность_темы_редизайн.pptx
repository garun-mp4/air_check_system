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cdcff24e24546" /><Relationship Type="http://schemas.openxmlformats.org/officeDocument/2006/relationships/extended-properties" Target="/docProps/app.xml" Id="Rb4fe4f93700c43db" /><Relationship Type="http://schemas.openxmlformats.org/officeDocument/2006/relationships/officeDocument" Target="/ppt/presentation.xml" Id="R80e2102d0437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656bcd99b4266"/>
  </p:sldMasterIdLst>
  <p:notesMasterIdLst>
    <p:notesMasterId xmlns:r="http://schemas.openxmlformats.org/officeDocument/2006/relationships" r:id="R17d579d5357a4841"/>
  </p:notesMasterIdLst>
  <p:sldIdLst>
    <p:sldId xmlns:r="http://schemas.openxmlformats.org/officeDocument/2006/relationships" id="256" r:id="Rc475bb3c68b748ef"/>
    <p:sldId xmlns:r="http://schemas.openxmlformats.org/officeDocument/2006/relationships" id="257" r:id="R5db8c47fbef348fc"/>
    <p:sldId xmlns:r="http://schemas.openxmlformats.org/officeDocument/2006/relationships" id="258" r:id="Re70b72bb79fe41df"/>
    <p:sldId xmlns:r="http://schemas.openxmlformats.org/officeDocument/2006/relationships" id="259" r:id="Rba3cdbf7ab524cde"/>
    <p:sldId xmlns:r="http://schemas.openxmlformats.org/officeDocument/2006/relationships" id="260" r:id="R10f99a8f8fa241aa"/>
    <p:sldId xmlns:r="http://schemas.openxmlformats.org/officeDocument/2006/relationships" id="261" r:id="R8cff6800c278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8a8b2b70e04617" /><Relationship Type="http://schemas.openxmlformats.org/officeDocument/2006/relationships/slideMaster" Target="/ppt/slideMasters/slideMaster1.xml" Id="R816656bcd99b4266" /><Relationship Type="http://schemas.openxmlformats.org/officeDocument/2006/relationships/notesMaster" Target="/ppt/notesMasters/notesMaster1.xml" Id="R17d579d5357a4841" /><Relationship Type="http://schemas.openxmlformats.org/officeDocument/2006/relationships/presProps" Target="/ppt/presProps.xml" Id="R17e22373820c4abc" /><Relationship Type="http://schemas.openxmlformats.org/officeDocument/2006/relationships/tableStyles" Target="/ppt/tableStyles.xml" Id="R7114de4e667e41b1" /><Relationship Type="http://schemas.openxmlformats.org/officeDocument/2006/relationships/slide" Target="/ppt/slides/slide1.xml" Id="Rc475bb3c68b748ef" /><Relationship Type="http://schemas.openxmlformats.org/officeDocument/2006/relationships/slide" Target="/ppt/slides/slide2.xml" Id="R5db8c47fbef348fc" /><Relationship Type="http://schemas.openxmlformats.org/officeDocument/2006/relationships/slide" Target="/ppt/slides/slide3.xml" Id="Re70b72bb79fe41df" /><Relationship Type="http://schemas.openxmlformats.org/officeDocument/2006/relationships/slide" Target="/ppt/slides/slide4.xml" Id="Rba3cdbf7ab524cde" /><Relationship Type="http://schemas.openxmlformats.org/officeDocument/2006/relationships/slide" Target="/ppt/slides/slide5.xml" Id="R10f99a8f8fa241aa" /><Relationship Type="http://schemas.openxmlformats.org/officeDocument/2006/relationships/slide" Target="/ppt/slides/slide6.xml" Id="R8cff6800c278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c756ce93242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e9e0e017c483b" /><Relationship Type="http://schemas.openxmlformats.org/officeDocument/2006/relationships/notesMaster" Target="/ppt/notesMasters/notesMaster1.xml" Id="Re2d6fa26f80b48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9dcecaabb496b" /><Relationship Type="http://schemas.openxmlformats.org/officeDocument/2006/relationships/notesMaster" Target="/ppt/notesMasters/notesMaster1.xml" Id="Ree159bdb2e7b44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3640b1162b43c2" /><Relationship Type="http://schemas.openxmlformats.org/officeDocument/2006/relationships/notesMaster" Target="/ppt/notesMasters/notesMaster1.xml" Id="R8d264a77917a4a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6bea529c58423e" /><Relationship Type="http://schemas.openxmlformats.org/officeDocument/2006/relationships/notesMaster" Target="/ppt/notesMasters/notesMaster1.xml" Id="Rc71d6092141c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800e4f68fd4c9f" /><Relationship Type="http://schemas.openxmlformats.org/officeDocument/2006/relationships/notesMaster" Target="/ppt/notesMasters/notesMaster1.xml" Id="Rdf0f83ea103b47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4ddb6a502a4611" /><Relationship Type="http://schemas.openxmlformats.org/officeDocument/2006/relationships/notesMaster" Target="/ppt/notesMasters/notesMaster1.xml" Id="Rfe3774437b31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схемы основано на фактической архитектуре AirCheck: README.md, docs/ml.md и docs/ТЗ-поправка-03-climate-control.md. Значения 780 ppm и 15 минут используются как аннотации, а не как отдельные KPI.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https://www.epa.gov/indoor-air-quality-iaq/indoor-pollutants-and-sources ; https://www.ashrae.org/technical-resources/bookstore/standards-62-1-62-2 ; https://www.consultant.ru/document/cons_doc_LAW_375839/ ; https://protect.gost.ru/sp/details/b00f766e-b861-4cc7-a448-c65906490262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Логика сравнения основана на описании проблемы и ограничений AirCheck в docs/актуальность-темы.md. Научный контекст по кратковременному воздействию CO₂: https://www.sciencedirect.com/science/article/pii/S036013232300358X . Практические ограничения воздухообмена: https://www.epa.gov/indoor-air-quality-iaq/improving-indoor-air-quality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аналогов: https://help.aranet.com/aranet4/aranet4-home/general/what-does-the-aranet4-do ; https://www.airthings.com/en/view-plus ; https://www.rylosystems.com/en_US/products/sanobreeze-co2-vent-controller ; https://www.airgradient.com/home-assistant/ ; https://www.home-assistant.io/docs/automation . Знак минус показывает отсутствие заявленной функции в выбранных материалах, а не невозможность интеграции.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и состояния подтверждения: README.md, docs/ml.md и docs/ТЗ-поправка-03-climate-control.md. В проекте различаются desired и reported состояния, очередь команд и статусы online, stale,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проекта сверены с README.md, docs/актуальность-темы.md и docs/ТЗ-поправка-03-climate-control.md. Физическая ESP32, реальные датчики, фильтр, моторы и механизм окна на текущем этапе не подключены; simulator использует предусмотренный REST-контракт.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ef7723e1d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7f0c62cc1546a0" /><Relationship Type="http://schemas.openxmlformats.org/officeDocument/2006/relationships/slideLayout" Target="/ppt/slideLayouts/slideLayout1.xml" Id="Re2ffc12b98d7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ffc12b98d7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dcb07ac24de9" /><Relationship Type="http://schemas.openxmlformats.org/officeDocument/2006/relationships/notesSlide" Target="/ppt/notesSlides/notesSlide1.xml" Id="Rb134974c65c642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df3607e4944c8" /><Relationship Type="http://schemas.openxmlformats.org/officeDocument/2006/relationships/notesSlide" Target="/ppt/notesSlides/notesSlide2.xml" Id="R11aa3830e4e444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b495d6084c8b" /><Relationship Type="http://schemas.openxmlformats.org/officeDocument/2006/relationships/notesSlide" Target="/ppt/notesSlides/notesSlide3.xml" Id="Rdd0d5c38729f4c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68c76eeb94a4b" /><Relationship Type="http://schemas.openxmlformats.org/officeDocument/2006/relationships/notesSlide" Target="/ppt/notesSlides/notesSlide4.xml" Id="Rbb9e97b30948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97c71ef114310" /><Relationship Type="http://schemas.openxmlformats.org/officeDocument/2006/relationships/notesSlide" Target="/ppt/notesSlides/notesSlide5.xml" Id="Rb8eede6baf35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a1a00ac9a48f1" /><Relationship Type="http://schemas.openxmlformats.org/officeDocument/2006/relationships/notesSlide" Target="/ppt/notesSlides/notesSlide6.xml" Id="R5fa915bdd2c6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C9EEEF-D7BA-4715-BB3E-0A3FF62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ДИПЛОМНЫЙ ПРОЕКТ / AIRCHECK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DEED6-E992-4B90-873F-D09F53E3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A5DF1-F5A2-4C3D-9F11-44108DE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Мониторинг и управление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качеством воздуха</a:t>
            </a:r>
          </a:p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 помещении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5858E-CA5C-4CF7-932A-7F553E4D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Интеллектуальная IoT-система на основе прогноза CO₂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CAAF5-CA50-4ED9-BDB9-E9ACBF6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FEBF7-911F-40C9-989F-816E1A59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10638-8709-4574-ACAD-3061221B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узел, история, прогноз, действие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DC27A-F8F4-4401-8BFE-3226878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превращает состояние помещения в проверяемый рабочий контур.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46349-20B6-47DF-BE90-5084689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7C74-953A-4088-8767-94E468CB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4290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6185B-C6BE-4A0A-8743-E6A47407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34290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7B347-DA30-4F7C-91CC-0431A4E2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1524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D9D8A-5EF4-4903-A7CA-B73510AE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428750"/>
            <a:ext cx="1524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F3526-FD3E-4AB0-A442-3630FC5A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0"/>
            <a:ext cx="1524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995FF-8AEF-425F-885E-4B395CA7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19350"/>
            <a:ext cx="2286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CC0797-46DE-4645-B884-F7A45384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28925"/>
            <a:ext cx="114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B30D5-511E-4484-B194-B66954A2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0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 / ROOM-01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55D43-BD14-4E71-BBC0-59428652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4CDFE-B782-497C-929C-3FA3A91A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195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DE549-24BD-4CAD-9402-B105E2CA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5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46EFA-8EE7-41EF-A451-8616F2EA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1F899-A824-455D-9707-9AC57D4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577" y="2803398"/>
            <a:ext cx="109347" cy="109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27862-1C8F-4B8A-94C9-8483159E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2745"/>
            <a:ext cx="9525" cy="218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F8B50-9B31-45C9-AC22-9F465FAB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903" y="2990850"/>
            <a:ext cx="2186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6A4A6-EF95-4CE1-8785-A22D2DBC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145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8490E-4ABF-46E4-ACF6-EE7D44F5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29D66-522D-4446-92C5-9322C252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877" y="2803398"/>
            <a:ext cx="109347" cy="109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DF9BFB-658D-47A8-9C84-84A89BA6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2745"/>
            <a:ext cx="9525" cy="2186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D99EE-D3FE-418C-8038-74CEB5FD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203" y="2990850"/>
            <a:ext cx="218694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A56F0-02C8-4E48-811A-2A63AAF2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5445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F2EB2-FB9D-4091-A56F-FAD12A4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31439"/>
            <a:ext cx="78105" cy="124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89569F-562D-4AE5-8159-202D40FE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645" y="29889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54DE4-335A-40EB-B3A8-FC6AB666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30918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9499F4-EDC6-48E0-A344-AFC250A8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638" y="31432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031B03-DA5A-4C8E-9F99-67AB9D43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48" y="31432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6C22CA-BF24-4370-8ACF-ED5BACA1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89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A1F2B2-F52F-42D6-A3A9-953B6E4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75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889683-14CD-463E-AE69-E0160615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IoT-узел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6B363C-4C0A-4CA8-AFC7-78C3C97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908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CO₂ 780 ppm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2CAA5-0F1E-4B8C-BB7F-E886FCD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6DD75C-04F3-40BF-9D2E-9FA5B959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через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7487FB-BB16-46E3-8975-950053F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9525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4FD8E4-EBE1-4698-80A7-2487C974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197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локальный контур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47EC91-A4DB-496E-8B65-6E807C0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14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FA79C9-320C-4C0E-B528-CD437E1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431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4" name=""/>
          <p:cNvCxnSpPr>
            <a:stCxn xmlns:a="http://schemas.openxmlformats.org/drawingml/2006/main" id="44" idx="2"/>
            <a:endCxn xmlns:a="http://schemas.openxmlformats.org/drawingml/2006/main" id="45" idx="6"/>
          </p:cNvCxnSpPr>
          <p:nvPr/>
        </p:nvCxnSpPr>
        <p:spPr>
          <a:xfrm xmlns:a="http://schemas.openxmlformats.org/drawingml/2006/main" flipH="1">
            <a:off x="6600825" y="2152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04465D-0DB4-404F-9D29-5669BA95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8B9833-C693-4D38-9B6B-827F055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7" name=""/>
          <p:cNvCxnSpPr>
            <a:stCxn xmlns:a="http://schemas.openxmlformats.org/drawingml/2006/main" id="47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6619875" y="403860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509FD0-AF18-410C-91B6-F722CCAC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01D4C-D5A9-4589-A081-D5DD5A11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0" name=""/>
          <p:cNvCxnSpPr>
            <a:stCxn xmlns:a="http://schemas.openxmlformats.org/drawingml/2006/main" id="50" idx="2"/>
            <a:endCxn xmlns:a="http://schemas.openxmlformats.org/drawingml/2006/main" id="51" idx="6"/>
          </p:cNvCxnSpPr>
          <p:nvPr/>
        </p:nvCxnSpPr>
        <p:spPr>
          <a:xfrm xmlns:a="http://schemas.openxmlformats.org/drawingml/2006/main" flipH="1">
            <a:off x="10887075" y="28956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68706A-27A1-41E8-ABA2-0EA57F60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196555-9059-48EA-B1A7-281ABB4D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3" name=""/>
          <p:cNvCxnSpPr>
            <a:stCxn xmlns:a="http://schemas.openxmlformats.org/drawingml/2006/main" id="53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10887075" y="32385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C5D54E-6CC6-4D0E-8C97-484FB80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CEF5E8-C99D-4D95-BE58-B05C86B5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E02FDB-6E78-4E81-9544-0A90DBDD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001150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E1BC06-C0B5-4498-A037-6F7A9875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Параметры воздуха меняются в течение дня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C292C-11B4-484F-A11F-A86E5B8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комнаты зависит от условий</a:t>
            </a:r>
          </a:p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внутри и снаружи.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53D9C-25B8-4B91-89F3-2C2140AF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 и PM2.5 могут расти постепенно.</a:t>
            </a:r>
          </a:p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Без измерений изменение легко пропустить.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AE767-B6AA-4E9F-8CDE-756CFEAD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ОДНА КОМНАТА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74BEA-E3BE-42E7-B96A-E9DDF626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находятся люди и датчики.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Окно и вентиляция связывают комнату</a:t>
            </a:r>
          </a:p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 внешней средой.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2EFF2-9F25-42D4-AAE6-0A796E84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6863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62617-9E42-4742-93C7-4A30B8C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6863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1E867-5D50-4A8B-924C-4CD6031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46863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31499-B81F-4D0A-B03F-EC226C1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1524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EB5FB-47EC-4D4F-9AFC-E3644EB7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52600"/>
            <a:ext cx="15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EFFE0-FA53-4059-AA90-E27DE619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05200"/>
            <a:ext cx="1524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028BF-BFF5-4642-8A2F-0DBD6572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67000"/>
            <a:ext cx="2286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99213-03D8-43D3-B065-94A7AD01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86100"/>
            <a:ext cx="114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0154-993D-40F9-A355-BA3108D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ПОМЕЩЕНИЕ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409A2-398D-497F-A263-8A1F6E9D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241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5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наружная среда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21C16-02B8-4794-9448-979E57FC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67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наружные</a:t>
            </a:r>
          </a:p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показатели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228D3-1D66-434C-857E-B98497AA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744" y="2850642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52077-2482-4D8B-991F-9510D547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4655"/>
            <a:ext cx="9525" cy="20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6011D-48F2-4DD5-9FBC-308E95D0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737" y="3028950"/>
            <a:ext cx="2080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9A276-14A4-4042-B47C-B22796D0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F23EA3-9343-41AD-B987-25EFE1DD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F4516D-B4A8-4253-B71D-0F87CA9F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094" y="2850642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83C35-2E89-4376-ADA6-5B4A76E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4655"/>
            <a:ext cx="9525" cy="2080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4EC79-8DC7-4A35-9FBB-0E6C0347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087" y="3028950"/>
            <a:ext cx="20802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4EF51-3A7B-4D5A-9ACB-BE11DAA7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805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3B18D-803C-48BF-94A9-83AB828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681"/>
            <a:ext cx="74295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95527-E1AF-49FB-991E-E0250EF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люди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223CC5-1A73-4853-AE63-73DB7B2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2123" y="2885123"/>
            <a:ext cx="325755" cy="3257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1A2A8-E288-4D17-BC9F-144C14E0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0708" y="2993708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DEDA0-7C8C-4015-994F-0749347B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781" y="3048000"/>
            <a:ext cx="1266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0BBDB-97C3-475A-9712-A95B34DE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536" y="3048000"/>
            <a:ext cx="1266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F89521-6601-41BF-89AE-1F07A9A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21781"/>
            <a:ext cx="9525" cy="12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E9732-E744-4D09-8D45-5EE8EFD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7536"/>
            <a:ext cx="9525" cy="12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01791-12F4-43E1-A908-D12C761A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24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состояние воздуха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3FE6BD-5706-4B3F-A273-78276A86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CO₂ / PM2.5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45D3BE-9C7B-42AB-AD51-3D86943F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554AA3-EC08-4651-B19F-D234CBF7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04B4B1-C13C-4AE1-8251-BBDC2B41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193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DB823E-0D23-40AC-A037-74E1BC5A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33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591851-7923-46E6-AACD-97005225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39" idx="2"/>
            <a:endCxn xmlns:a="http://schemas.openxmlformats.org/drawingml/2006/main" id="40" idx="6"/>
          </p:cNvCxnSpPr>
          <p:nvPr/>
        </p:nvCxnSpPr>
        <p:spPr>
          <a:xfrm xmlns:a="http://schemas.openxmlformats.org/drawingml/2006/main" flipH="1">
            <a:off x="5295900" y="23431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3ECD27-9DA3-441D-ADDC-5FA05523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8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C9BA56-BECB-420E-B82E-5D5B5B21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181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42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5305425" y="4191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C31261-4EAD-471F-84B3-33844EF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572C95-100A-457B-8C2D-3BA4F7B2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86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45" idx="2"/>
            <a:endCxn xmlns:a="http://schemas.openxmlformats.org/drawingml/2006/main" id="46" idx="6"/>
          </p:cNvCxnSpPr>
          <p:nvPr/>
        </p:nvCxnSpPr>
        <p:spPr>
          <a:xfrm xmlns:a="http://schemas.openxmlformats.org/drawingml/2006/main" flipH="1">
            <a:off x="10601325" y="2895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CDE208-5799-4549-83B1-DF4C0645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559199-6253-423B-98DE-EE74371F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48" idx="6"/>
            <a:endCxn xmlns:a="http://schemas.openxmlformats.org/drawingml/2006/main" id="49" idx="2"/>
          </p:cNvCxnSpPr>
          <p:nvPr/>
        </p:nvCxnSpPr>
        <p:spPr>
          <a:xfrm xmlns:a="http://schemas.openxmlformats.org/drawingml/2006/main">
            <a:off x="10601325" y="3238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E75E44-20FD-4F66-A828-490DD17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1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84378D-C147-4042-82CA-BB118EA4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194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4" name=""/>
          <p:cNvCxnSpPr>
            <a:stCxn xmlns:a="http://schemas.openxmlformats.org/drawingml/2006/main" id="51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8239125" y="30289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37415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5A8AEE-3784-4525-916C-92928F1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изменения внутри комнаты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2E46C3-D1DF-4238-8A64-C94F5F3A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CE12D2-CD60-485B-B35C-857710C3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18234A-A29B-4528-A34C-ADEF4C3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НОРМАТИВНАЯ РАМКА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77AAFB-A955-49B9-8B91-258EE776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8769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СанПиН 1.2.3685-21, СП 60.13330.2020 и ASHRAE связывают качество воздуха с микроклиматом и вентиляцией.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F9ACB6-9DD4-4F78-A83A-FC46640F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DF2AAD-E4CC-4540-A742-790048B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FDAAC2-C6CD-48C7-BCFC-167B9328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786223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41E5C2-D641-4557-B616-94CE4451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Текущего значения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43299-615D-4CF6-B2F7-2A3FE637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 сдвигает</a:t>
            </a:r>
          </a:p>
          <a:p xmlns:a="http://schemas.openxmlformats.org/drawingml/2006/main">
            <a:pPr algn="l">
              <a:def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раньше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48C26-4D94-4F15-894F-4611F9F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ТЕКУЩИЙ СЦЕНАРИЙ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681BF-15E7-49C9-9725-9BABB109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действие после изменения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077E0-9E9A-4D40-A26B-BC2BAA6A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E27A0-AAAD-4AF0-9601-A89B54C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EF2C0-F3E6-4EDB-AC4E-B029C2B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FA8BA-5AE5-49E9-9AD9-1348AA9E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текущее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значение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6E42D-06D4-4DFD-8C52-CB8CF65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6A6E2-FCDA-453F-9500-8D6EB9D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BB216-4447-48D8-A570-E1D5362A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рост CO₂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E340E-E0D2-4BE1-BD6B-32DEF62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3F936-B116-447A-9FE1-1F8F3D02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46A08-09C0-4B5D-BABB-6B5EDFCA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человек</a:t>
            </a:r>
          </a:p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замечает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E78AF-E4E1-4417-9147-D983395A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41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C3BA8-F96A-4654-867F-88E490D7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C6BC0-858E-4DCC-8DC8-641B5AC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70032-1202-47AD-AAF1-58E99FD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F9AFA-1475-4E11-9EE9-3C410D9E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9525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98989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C8023-922E-413F-ACD1-4504A8C3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3AC09-AE24-413D-B942-7F131A7C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90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реакция начинается после изменения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06540-F5C3-4360-8218-E4DF1EB1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ЦЕЛЕВОЙ СЦЕНАРИЙ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4132D-4C9D-4DA5-8B5B-25F239DE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прогноз добавляет момент для решения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EFDC9-6AA3-4941-940F-2BD0F108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95350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D858F-F874-4986-984D-E38CBD98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0282F5-5ECC-4CE5-BC95-E4268B70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D219ED-6B01-478E-9BE1-B34436A7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показания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2E44D5-3557-418F-9815-276B277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F0F2E-26D6-444B-BD2E-9759BDE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76F6A1-5A3B-4D60-913F-A3AFB56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минут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1CFBC-838E-49E3-B9C3-40D52385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90FACF-181B-48FF-866E-48A6664E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F6A9E2-796E-4D97-8D81-B7305246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02043B-833F-4C5A-AE32-95F6F42A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67E8DE-3980-418D-A227-6F64EB76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4EE071-1E96-4CA5-A9EE-DB33F87A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команда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AC0D85-DA8D-4DC3-8F51-9E50BAC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B5302C-00D0-4DF7-B215-50FFF824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62500"/>
            <a:ext cx="9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3B904F-AD37-49BA-81E3-4F4CD930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958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подтверждение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5A4EFE-70AB-4351-A679-8D28D6B3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86250"/>
            <a:ext cx="95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F6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BA54E7-8C27-47B3-8A5A-BE92EE17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критический рост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7C14C7-76CE-4808-97DA-A05877E2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33"/>
          </a:bodyPr>
          <a:lstStyle xmlns:a="http://schemas.openxmlformats.org/drawingml/2006/main"/>
          <a:p xmlns:a="http://schemas.openxmlformats.org/drawingml/2006/main">
            <a:pPr algn="r">
              <a:def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Решение появляется до критического роста и остаётся проверяемым.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630CF2-666C-4D6B-85B9-F579B79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BEDBFD-8DB9-4526-8C66-19787DC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ПРАКТИЧЕСКАЯ ЗАДАЧА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619AF4-089D-485B-840E-2FC7AA6B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007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измерение, прогноз, рекомендацию и управление в одном локальном контуре.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F463D1-8B9C-46CF-BBA3-D1DE4753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0FADF4-E7B4-412C-A6EE-39B4381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DACF60-0973-4F24-8A1D-246115D2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1668252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6FE9ED-8B5F-49FE-BBC7-BDCBA5BF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Аналоги закрывают отдельные части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52FBE-BD9B-46FD-8919-97270BB7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AirCheck объединяет всю цепочку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FED56-95FA-4B48-AACD-A7100EA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Матрица показывает заявленные возможности в масштабе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06005-8FFD-4C98-92BE-73947F2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334E5-79CB-4F06-8D6A-44BE03B2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A1A0-DA45-425C-AD3F-A7888A4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526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4C49B-3C8E-4798-958B-93F0974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133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ИНТЕЛЛЕКТ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0274B-94C2-44FE-968C-B27E477C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971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7F68B-7D43-4F80-8D13-1F428B9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52600"/>
            <a:ext cx="1266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ЛОКАЛЬНОСТЬ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D92F3-598C-44F6-825B-E10CBC6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C99A4-1521-4DCA-A6EF-A5F0A07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FB7AA3-1794-492A-A3C8-53352DF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C5E4C-E0C4-4A88-A1FE-605E6448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A8736-3995-49B0-8E02-7046212E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76450"/>
            <a:ext cx="847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80F98-852A-4F1D-BC7E-67329BD1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DBD62-3BA0-4B73-8799-79E7E20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Вентиляция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0847B-21B9-47EB-A2B9-C33DE610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6B250-BC89-48C9-975C-ED6E21F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764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Локально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24F4B-1D87-470F-9493-566A297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F8797-D537-4198-AAF2-59822232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B7ED38-FFC7-465A-A281-20C1563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0E44F-7084-4AC8-AD84-81F4F36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145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15DE8-A5B0-4A96-B8D1-96D927A0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Aranet4 HOME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59767-5B8C-4FE6-A53F-F4E2E50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T, RH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515E97-1FCB-4994-A253-FED1483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24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6FF61-0840-4A84-86F0-EAABB5E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F1812-76C4-4C86-9CAC-3833432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732B0A-FC98-450C-ABD8-66F595D1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E9AAD0-3F28-4F1E-A0A4-5AFA2057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7F5AC-D3F6-4EA1-96F5-F19EFBC2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241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93631-6A94-4CB1-9F78-16F0400D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5D104-2813-453B-8C42-F6D2860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Airthings View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E53B6-41E0-416F-A890-99A8889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AFDC89-DB00-4CD7-845A-227D1B80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50A668-FFD2-4580-B12D-9953157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9DA461-3916-43BA-94C5-36BDB226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A06083-8DC4-4D92-AFE0-E158F6BE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1EA5BE-6466-4D95-A059-11E4FABC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99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4A3B24-066C-4B01-BDBE-A492B0A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0990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03166D-8390-4F86-85A2-C8C525B7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DD9A2A-9897-48D6-B5A5-7881C184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Sanobreeze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E49EEE-DBF5-45F7-A856-9CCF4CDB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956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BDE2D8-85F4-4F5A-977F-16C5BAAB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956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45C8CC-1EEC-4F86-A61A-62D608E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9567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2AD8EE-35E5-4E08-8A98-9DE55816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3837DD-FE2E-4463-93BD-CC62B128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9567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2AD66C-0FEA-455F-A17D-FA6971D6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956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8A5614-6553-428E-971A-0BA38A0E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9567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D293FC-BDD6-41FF-BDF7-D5505EC4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F3DF3A-2677-4B01-90AF-6AED159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AirGradient ONE / Open Air +</a:t>
            </a:r>
          </a:p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Home Assistant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61A7E5-2B44-4783-864B-F5E8622A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1AAD05-D80B-4F3E-ABF3-1385AA03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814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396043-C546-4C52-BE9D-6645844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81450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BE2B27-6885-45C5-91D4-44AE5592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D8C27F-007A-456B-97CD-088ACC37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ACEF4B-253D-4F40-9622-2A3561B9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981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A4C538-D2D8-4BF4-9B16-05A37D69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9814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4FEC61-2B12-4055-8F67-C0D6EBE3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593FAC-E147-4FAB-94DC-A02A4785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CF64BE-1590-425D-AEA3-E6D7E05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13" b="1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CO₂, PM2.5, T/RH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76DC45-808F-40EA-B54A-C420141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67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C249CA-C884-43BA-BDDE-BB494C2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67225"/>
            <a:ext cx="847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EBE464-65F7-414F-A957-277A104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3E4E10-59AE-459A-8CF2-C1D7D5F1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1133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E5A5B5-D687-446D-9CF8-B1C5AF70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4672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218C3D-AFFF-4186-BE29-10C465B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6722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51CD58-A4D2-4C6C-A604-76CB478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AE5B9C-63A4-4540-AFA9-2CD36741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2F261D-1D40-4E48-B979-E54079C4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+ заявлено или реализовано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D13C90-6214-4C5D-9883-028632D7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− не заявлено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65C88C-3EFE-4AFD-95FE-AD705D3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± частичная поддержка или настройка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C76703-0AC7-472C-B78F-6FEA5F07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Сравнение по официальным описаниям решений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ABC24D2-0B55-491E-AD6D-1BC2BAF2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191E0A-0ED0-4EAD-8370-AB76D8F7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7C3951-7E82-4716-BBB7-73ED15B8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1834928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163959B-2AE1-47FD-B077-74DAD0A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AirCheck связывает измерение с действием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F8FB4-6A2C-4089-AF77-50559FE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05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3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СИГНАЛЬНЫЙ ПУТЬ ПРОГРАММНОГО ПРОТОТИПА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BDC4D-7FB4-4FB7-B958-4720B68B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431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371C5-49C3-45C2-A864-342E9E9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54AE1-E892-4C72-BDB2-6E2B62F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A4438-B2A4-4500-90F4-E4419231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876425" y="2571750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62E21-F9AA-4B53-A3D8-02E5802E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D44E3-FA0D-4C7D-A156-0BB102F8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3981450" y="25717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9898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B9EC6-8674-4870-A571-D4993C2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5818A-5C9C-4D86-A298-3C5C348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6086475" y="2571750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C63E6-624A-4896-8EBF-FB87EF41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3201F-99A4-4106-99E3-11B84246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5622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2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8181975" y="25717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9B94-B8FF-44A1-8386-F3E5B631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/ ИСТОЧНИК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C789E-FFB4-4494-A685-A0C4357B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945" y="2417445"/>
            <a:ext cx="308610" cy="3086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B82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5D39F-7A2E-4AF6-B8A2-76BDB87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5203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78D19-2D9F-4CA7-841A-D5F60872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F5D6C-29C3-4D81-A79D-E9D1D21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548" y="2571750"/>
            <a:ext cx="12001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8DCE9-0CED-4170-AC0F-AF331DEC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5743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31B4F-3988-4591-868E-8138D69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6048"/>
            <a:ext cx="952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5F77A3-FBF0-498A-A0E5-D24760C1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832D5-2443-45E6-A3DD-53CECA9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94594-9462-4DA7-AEB7-5F14D076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B2B33-A95B-4097-9F02-D7727CA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датчики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F32852-8261-4EAF-A57F-05EF7F15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внутри и снаружи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961A0D-F36B-4154-BCCC-86A92E8B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 / ХРАНЕНИЕ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1FDF82-15C5-42F8-BC09-E6457876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29457-4568-44D3-A554-A51F8260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1333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7401D-8ACA-4552-8931-EDF287EA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14B19C-C0BB-45BD-B1AD-46D90C53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38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9F60D-923D-4F6A-B19B-3C7367C3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381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5A4EA4-A067-402C-8DEE-F75EC91B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9ECC2C-28F1-4536-BF70-879809ED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E463D-0A81-4AF6-8310-6E5C6010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03 / АНАЛИЗ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A8A56A-7F81-4693-BA4F-B8C699D4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DF70E-C021-4CD8-89F8-EC135172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574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15 мин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68FE93-8B1C-4E50-9B6E-F925B28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71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прогноз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D2918-1AA5-45F3-B6D7-2FB7CED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CO₂ / 15 минут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E6A177-8798-4422-BFD6-F7D5E043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04 / РЕШЕНИЕ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FB8EFB-953F-47AC-8516-7B18BECE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295525"/>
            <a:ext cx="55245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6F17DE-BD06-49D8-85B2-3C6D852A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2AC2D6-5CDC-46B1-A1F0-484C7EF6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рекомендация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E7E4BC-BD7B-4592-98F4-8F5563A7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05 / ИСПОЛНЕНИЕ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53416F-9D4A-4326-8207-C1B8E35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A4070A-044D-4A11-9676-A1D4FD0C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714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8716F6-27FB-4B43-9349-54CBD33A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8191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3E7F2-8C58-4815-87EC-F9BC06EC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BB0D40-1704-47FE-9DC6-58A91ED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8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10734675" y="2857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FC7ECB-C372-4BFF-9E76-477D2F5A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B0E907-A7CD-41B7-A153-7796468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7AEAE2-C4C4-4178-A25A-CC16CB19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28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4" idx="6"/>
            <a:endCxn xmlns:a="http://schemas.openxmlformats.org/drawingml/2006/main" id="55" idx="2"/>
          </p:cNvCxnSpPr>
          <p:nvPr/>
        </p:nvCxnSpPr>
        <p:spPr>
          <a:xfrm xmlns:a="http://schemas.openxmlformats.org/drawingml/2006/main">
            <a:off x="10429875" y="3238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17781F-1621-4B94-B8DD-4B88694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0"/>
            <a:ext cx="5143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9F37F2-B8C8-46FB-BB85-8148E67F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F4AD4C-6E6D-480A-A0AA-B8BAA48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6099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36" name=""/>
          <p:cNvCxnSpPr>
            <a:stCxn xmlns:a="http://schemas.openxmlformats.org/drawingml/2006/main" id="58" idx="6"/>
            <a:endCxn xmlns:a="http://schemas.openxmlformats.org/drawingml/2006/main" id="59" idx="2"/>
          </p:cNvCxnSpPr>
          <p:nvPr/>
        </p:nvCxnSpPr>
        <p:spPr>
          <a:xfrm xmlns:a="http://schemas.openxmlformats.org/drawingml/2006/main">
            <a:off x="10429875" y="36195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82F6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B5CA9E-B5B6-4FF6-B25E-CBFD5EAB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81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вытяжка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0F5BF0-DD10-48E3-BCC3-72E026A8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62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приток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A95FFB-B7D1-4513-9C80-7183B83F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433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окно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39A6FC-E2E3-449C-AF37-18DF657A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80496E-E667-4EB3-BBB1-27DA572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C6A791-14C4-43D4-89BD-8BC42BC1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РУЧНОЕ УПРАВЛЕНИЕ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806FEA-E0A5-405C-A3EF-82160BC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Команда оператора сохраняется до следующего решения.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4D3E0B-E5C4-452D-A07F-39E40D4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95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0EBF82-F4A8-4F78-AE6E-46C6D2ED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529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DESIRED / REPORTED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71C798-D87B-434F-89A2-66487CCB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Состояние считается изменённым только после подтверждения узла.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93829A-33B8-4CCA-9B1D-03CB475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61950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B4421B-D9E4-4C35-AFF5-207AF55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ONLINE / STALE / OFFLINE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520AC6-B809-495C-9AAC-32A33530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Ожидающая команда остаётся в очереди.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99BB9FC-9329-4CBC-969A-ECCDE72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07F32C-17A5-47A3-9E9B-67297E0C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4081F3-CCF6-4146-888C-40CAA66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8042062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29B15-25A4-48E5-9B8F-207141FC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Цель и 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7D29-A49F-4FCA-8A2B-231B1B6B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ОБЪЁМ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34623-73CB-4949-9AD5-A1EAABCF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Проверить локальный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сценарий</a:t>
            </a:r>
          </a:p>
          <a:p xmlns:a="http://schemas.openxmlformats.org/drawingml/2006/main">
            <a:pPr algn="l">
              <a:def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для одной комнаты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87268-CBF0-416E-ADCA-9733919F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2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Система по данным датчиков оценивает состояние воздуха, прогнозирует изменение CO₂ и поддерживает ручное или автоматическое управление проветриванием.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32028-BFF0-4291-8A01-3A9FB49B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95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E3561-C4AE-4C05-9E91-A8D1ED6F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01  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7741A-14F5-4810-9ABE-0BAEC8F6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панель, REST-контракт, PostgreSQL, прогноз, рекомендации, очередь команд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E4E89-A5CD-437F-BB2F-359F8BE3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CCDE1-1636-42F5-8230-3175E5F8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02  ПРОВЕРЯЕТСЯ В ДИПЛОМНОЙ РАБОТЕ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3E260-E2A9-4B54-9ADE-0CA5832C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рост CO₂, ручное управление окном, автоматическое проветривание, подтверждение состояния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8482A-8ADA-40F4-816C-485D1DC1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BC09D-C9FD-4AAF-A70C-9FBB1904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  ВНЕ ТЕКУЩЕГО ЭТАПА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F52FC-F84E-495A-B9B6-3E79462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физическая ESP32, реальные датчики, фильтр, моторы, механизм окна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095CC-350D-435A-8F49-FFA14DC8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программный прототип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EC7E9-1D76-4C78-A242-EF56C5B7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C02C5-00D4-4FEE-BC84-20D309A6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18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физическое подключение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8D9EB-5BDF-43B1-9F25-B8E9060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E4CC1-B2E9-4BD5-B6B2-43E546A8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98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Связать данные датчиков, прогноз и подтверждённое действие в одном локальном контуре.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063DD-C715-409A-86B7-E19598EB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B6569-67D7-4C6B-879E-5E0CD5E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AirCheck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4C837C-7C50-49EE-B592-55766157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898989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</p:spTree>
    <p:extLst>
      <p:ext uri="{BB962C8B-B14F-4D97-AF65-F5344CB8AC3E}">
        <p14:creationId xmlns:p14="http://schemas.microsoft.com/office/powerpoint/2010/main" val="835478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2026-09-11T14:48:10.4310000Z</dcterms:created>
  <dcterms:modified xsi:type="dcterms:W3CDTF">2026-09-11T14:48:10.4310000Z</dcterms:modified>
</coreProperties>
</file>