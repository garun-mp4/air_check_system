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f3d3dad6d84822" /><Relationship Type="http://schemas.openxmlformats.org/officeDocument/2006/relationships/extended-properties" Target="/docProps/app.xml" Id="R995a3993e7aa4210" /><Relationship Type="http://schemas.openxmlformats.org/officeDocument/2006/relationships/officeDocument" Target="/ppt/presentation.xml" Id="R7a96d9dab40447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850ea585bf4e4d"/>
  </p:sldMasterIdLst>
  <p:notesMasterIdLst>
    <p:notesMasterId xmlns:r="http://schemas.openxmlformats.org/officeDocument/2006/relationships" r:id="R437f61e7121947ed"/>
  </p:notesMasterIdLst>
  <p:sldIdLst>
    <p:sldId xmlns:r="http://schemas.openxmlformats.org/officeDocument/2006/relationships" id="256" r:id="Rc40daef540bf413c"/>
    <p:sldId xmlns:r="http://schemas.openxmlformats.org/officeDocument/2006/relationships" id="257" r:id="Rd0f51422b18048aa"/>
    <p:sldId xmlns:r="http://schemas.openxmlformats.org/officeDocument/2006/relationships" id="258" r:id="Re44c137a10ef4d81"/>
    <p:sldId xmlns:r="http://schemas.openxmlformats.org/officeDocument/2006/relationships" id="259" r:id="Raa37b4f33cda4bf1"/>
    <p:sldId xmlns:r="http://schemas.openxmlformats.org/officeDocument/2006/relationships" id="260" r:id="Rddc905b63747455e"/>
    <p:sldId xmlns:r="http://schemas.openxmlformats.org/officeDocument/2006/relationships" id="261" r:id="R1b6ee71f8e9f4d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c79d91cd6343d5" /><Relationship Type="http://schemas.openxmlformats.org/officeDocument/2006/relationships/slideMaster" Target="/ppt/slideMasters/slideMaster1.xml" Id="Rd9850ea585bf4e4d" /><Relationship Type="http://schemas.openxmlformats.org/officeDocument/2006/relationships/notesMaster" Target="/ppt/notesMasters/notesMaster1.xml" Id="R437f61e7121947ed" /><Relationship Type="http://schemas.openxmlformats.org/officeDocument/2006/relationships/presProps" Target="/ppt/presProps.xml" Id="R7714bd3010464ec6" /><Relationship Type="http://schemas.openxmlformats.org/officeDocument/2006/relationships/tableStyles" Target="/ppt/tableStyles.xml" Id="R8b28368db3a04cfd" /><Relationship Type="http://schemas.openxmlformats.org/officeDocument/2006/relationships/slide" Target="/ppt/slides/slide1.xml" Id="Rc40daef540bf413c" /><Relationship Type="http://schemas.openxmlformats.org/officeDocument/2006/relationships/slide" Target="/ppt/slides/slide2.xml" Id="Rd0f51422b18048aa" /><Relationship Type="http://schemas.openxmlformats.org/officeDocument/2006/relationships/slide" Target="/ppt/slides/slide3.xml" Id="Re44c137a10ef4d81" /><Relationship Type="http://schemas.openxmlformats.org/officeDocument/2006/relationships/slide" Target="/ppt/slides/slide4.xml" Id="Raa37b4f33cda4bf1" /><Relationship Type="http://schemas.openxmlformats.org/officeDocument/2006/relationships/slide" Target="/ppt/slides/slide5.xml" Id="Rddc905b63747455e" /><Relationship Type="http://schemas.openxmlformats.org/officeDocument/2006/relationships/slide" Target="/ppt/slides/slide6.xml" Id="R1b6ee71f8e9f4d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81166db3db46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05063183284323" /><Relationship Type="http://schemas.openxmlformats.org/officeDocument/2006/relationships/notesMaster" Target="/ppt/notesMasters/notesMaster1.xml" Id="Rc8350cd2f09143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0f0eb3cd7b4501" /><Relationship Type="http://schemas.openxmlformats.org/officeDocument/2006/relationships/notesMaster" Target="/ppt/notesMasters/notesMaster1.xml" Id="R818d3b95510940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6a7505486f4085" /><Relationship Type="http://schemas.openxmlformats.org/officeDocument/2006/relationships/notesMaster" Target="/ppt/notesMasters/notesMaster1.xml" Id="R82b67ecd20294a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5f43ddb06d4cb7" /><Relationship Type="http://schemas.openxmlformats.org/officeDocument/2006/relationships/notesMaster" Target="/ppt/notesMasters/notesMaster1.xml" Id="R735eded8103f43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a48d27cc434053" /><Relationship Type="http://schemas.openxmlformats.org/officeDocument/2006/relationships/notesMaster" Target="/ppt/notesMasters/notesMaster1.xml" Id="Rb59af216599947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08e5426df943c3" /><Relationship Type="http://schemas.openxmlformats.org/officeDocument/2006/relationships/notesMaster" Target="/ppt/notesMasters/notesMaster1.xml" Id="R90a355bfc75243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схемы основано на фактической архитектуре AirCheck: README.md, docs/ml.md и docs/ТЗ-поправка-03-climate-control.md. Значения 780 ppm и 15 минут используются как аннотации, а не как отдельные KPI.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https://www.epa.gov/indoor-air-quality-iaq/indoor-pollutants-and-sources ; https://www.ashrae.org/technical-resources/bookstore/standards-62-1-62-2 ; https://www.consultant.ru/document/cons_doc_LAW_375839/ ; https://protect.gost.ru/sp/details/b00f766e-b861-4cc7-a448-c65906490262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Логика сравнения основана на описании проблемы и ограничений AirCheck в docs/актуальность-темы.md. Научный контекст по кратковременному воздействию CO₂: https://www.sciencedirect.com/science/article/pii/S036013232300358X . Практические ограничения воздухообмена: https://www.epa.gov/indoor-air-quality-iaq/improving-indoor-air-quality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аналогов: https://help.aranet.com/aranet4/aranet4-home/general/what-does-the-aranet4-do ; https://www.airthings.com/en/view-plus ; https://www.rylosystems.com/en_US/products/sanobreeze-co2-vent-controller ; https://www.airgradient.com/home-assistant/ ; https://www.home-assistant.io/docs/automation . Знак минус показывает отсутствие заявленной функции в выбранных материалах, а не невозможность интеграции.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Фактическая архитектура и состояния подтверждения: README.md, docs/ml.md и docs/ТЗ-поправка-03-climate-control.md. В проекте различаются desired и reported состояния, очередь команд и статусы online, stale, offline.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Границы проекта сверены с README.md, docs/актуальность-темы.md и docs/ТЗ-поправка-03-climate-control.md. Физическая ESP32, реальные датчики, фильтр, моторы и механизм окна на текущем этапе не подключены; simulator использует предусмотренный REST-контракт.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a7d536c5246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d784df00484d3e" /><Relationship Type="http://schemas.openxmlformats.org/officeDocument/2006/relationships/slideLayout" Target="/ppt/slideLayouts/slideLayout1.xml" Id="R4e90e91e225f43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90e91e225f43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4e2fa0ef645d9" /><Relationship Type="http://schemas.openxmlformats.org/officeDocument/2006/relationships/notesSlide" Target="/ppt/notesSlides/notesSlide1.xml" Id="Ra530489c1ea440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cb1d13c0f4c69" /><Relationship Type="http://schemas.openxmlformats.org/officeDocument/2006/relationships/notesSlide" Target="/ppt/notesSlides/notesSlide2.xml" Id="R25c21acfaef245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80e2c18c14cc2" /><Relationship Type="http://schemas.openxmlformats.org/officeDocument/2006/relationships/notesSlide" Target="/ppt/notesSlides/notesSlide3.xml" Id="R2dc3f6e6ad0440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a991dd7144fdd" /><Relationship Type="http://schemas.openxmlformats.org/officeDocument/2006/relationships/notesSlide" Target="/ppt/notesSlides/notesSlide4.xml" Id="Rdf51fdc6ab5b4b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b7aafb830473c" /><Relationship Type="http://schemas.openxmlformats.org/officeDocument/2006/relationships/notesSlide" Target="/ppt/notesSlides/notesSlide5.xml" Id="Rc1b9936812de41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8807f4bde410d" /><Relationship Type="http://schemas.openxmlformats.org/officeDocument/2006/relationships/notesSlide" Target="/ppt/notesSlides/notesSlide6.xml" Id="R2c6235fc7e9d4a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F48DE4-5C71-42A8-B71C-8B3470D3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ДИПЛОМНЫЙ ПРОЕКТ / AIRCHECK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21F1C-ECD3-47E8-B9D9-67314F0A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9EACB-8272-4EC0-A462-03CCB101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Мониторинг и управление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качеством воздуха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 помещении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30D55-6DD3-4055-A88C-735286DC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Интеллектуальная IoT-система на основе прогноза CO₂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D5C77-B486-4E06-9219-C19A58EE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CAD51-E11B-4373-BE39-E59DCD98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88E5E-7866-4BBA-8FBF-9B5A4A58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узел, история, прогноз, действие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22650-D2D2-4F30-947C-2398A0AE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превращает состояние помещения в проверяемый рабочий контур.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3353E-058A-4E1A-983D-060F4E0C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55C40-8E4A-43EC-A69B-BED9F362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4290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97405-659F-4426-BDBD-71CB76C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34290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5AD46-3E5E-4EE9-9F46-A2540809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1524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6767E-AC3D-4945-BFD2-D3B319C2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428750"/>
            <a:ext cx="152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4F045-CE6F-4B42-8818-21824D35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1524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563F3-C68E-46FF-A395-448E93A0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19350"/>
            <a:ext cx="2286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3ACC7-E70A-49EB-A420-DB4116D8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28925"/>
            <a:ext cx="1143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3746D-3536-43B6-A89E-04313D4D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 / ROOM-01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E1B2F-E689-4B24-BAE3-09326779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288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2916F-8318-48A0-9302-3DF5699B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4B431-FA66-428D-8B83-51A76F6B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55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B0359-C286-4F34-87DB-712C77EA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624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ЛЮДИ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43ADF8-240C-4233-AFEA-AC3ECB10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577" y="2803398"/>
            <a:ext cx="109347" cy="109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62E94-F087-4DBE-B196-6504E7B6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2745"/>
            <a:ext cx="9525" cy="2186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C6590-6B7E-47ED-A78A-211352A1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903" y="2990850"/>
            <a:ext cx="21869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522884-DF4D-435E-ABDB-56E540E0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145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E3D59-4B55-4F3A-8D69-343DB5E5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121A2-1F9D-4723-A2FB-13E6B2E7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877" y="2803398"/>
            <a:ext cx="109347" cy="109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0ECB55-10B1-4471-970E-1E814348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2745"/>
            <a:ext cx="9525" cy="2186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328866-3070-4EFE-94C4-5FFECAA0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203" y="2990850"/>
            <a:ext cx="21869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B256A8-34A7-4B5D-806F-2E07037E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5445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148E0E-352B-4240-B0F0-B69A166B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DD2792-6F4D-4ECC-A212-207031BD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645" y="2988945"/>
            <a:ext cx="308610" cy="308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A90CB7-DDE9-4ED7-A5A8-C939E680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5" y="30918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54BB31-C8FA-4334-BDAA-35B9BBEE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31432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008905-54B9-40FB-92BA-AB22F4F5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31432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B4A70A-762D-4014-AE38-526F4DFC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2893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9745F1-18CC-4EFC-BEE2-4C3791D0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754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3E57A8-994E-4502-9E7E-696A6B37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86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IoT-узел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BE4B5C-7668-42AA-AE97-29409180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908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CO₂ 780 ppm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410989-1084-4A56-B4DF-F6075964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15AA71-9E5F-44AB-8D8A-EA8C2F6C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через 15 минут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00818D-B922-4701-B652-173820A1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76750"/>
            <a:ext cx="952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0DF948-CC46-4DCB-BB59-5FCEBC6E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19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контур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50A32D-3403-40C1-BED7-CD516CE1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143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31C371-17F2-4C0E-8B30-3E4686B3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43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4" name=""/>
          <p:cNvCxnSpPr>
            <a:stCxn xmlns:a="http://schemas.openxmlformats.org/drawingml/2006/main" id="44" idx="2"/>
            <a:endCxn xmlns:a="http://schemas.openxmlformats.org/drawingml/2006/main" id="45" idx="6"/>
          </p:cNvCxnSpPr>
          <p:nvPr/>
        </p:nvCxnSpPr>
        <p:spPr>
          <a:xfrm xmlns:a="http://schemas.openxmlformats.org/drawingml/2006/main" flipH="1">
            <a:off x="6600825" y="2152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5D4189-2D19-45C5-AD55-BCCA51E0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D70555-BD24-41E6-A236-3CB4CB07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7" name=""/>
          <p:cNvCxnSpPr>
            <a:stCxn xmlns:a="http://schemas.openxmlformats.org/drawingml/2006/main" id="47" idx="6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6619875" y="40386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4C5460-3A53-4F72-B814-62F7930B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77AE61-E0C4-47B0-BDCB-3B4ECBE3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0" name=""/>
          <p:cNvCxnSpPr>
            <a:stCxn xmlns:a="http://schemas.openxmlformats.org/drawingml/2006/main" id="50" idx="2"/>
            <a:endCxn xmlns:a="http://schemas.openxmlformats.org/drawingml/2006/main" id="51" idx="6"/>
          </p:cNvCxnSpPr>
          <p:nvPr/>
        </p:nvCxnSpPr>
        <p:spPr>
          <a:xfrm xmlns:a="http://schemas.openxmlformats.org/drawingml/2006/main" flipH="1">
            <a:off x="10887075" y="28956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301C95-D00D-44AF-A623-D7E9B692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F1959A-DF10-43F4-95D1-8AB5FC65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3" name=""/>
          <p:cNvCxnSpPr>
            <a:stCxn xmlns:a="http://schemas.openxmlformats.org/drawingml/2006/main" id="53" idx="6"/>
            <a:endCxn xmlns:a="http://schemas.openxmlformats.org/drawingml/2006/main" id="54" idx="2"/>
          </p:cNvCxnSpPr>
          <p:nvPr/>
        </p:nvCxnSpPr>
        <p:spPr>
          <a:xfrm xmlns:a="http://schemas.openxmlformats.org/drawingml/2006/main">
            <a:off x="10887075" y="32385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BE5319-00F1-411C-96C4-00F499BC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1D915D-13F4-4B10-9096-A16BF53A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915418-7CA9-40B3-A859-5DCD48A2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549682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3C54D5-2E3E-41DE-B389-C1E93243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Параметры воздуха меняются в течение 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DEB3D-4174-4E9F-8D7D-26FB0293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5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 комнаты зависит от условий</a:t>
            </a:r>
          </a:p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внутри и снаружи.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5AC11-317C-4F52-80D5-5D3048F7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 и PM2.5 могут расти постепенно.</a:t>
            </a:r>
          </a:p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Без измерений изменение легко пропустить.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BD6BB-1889-4CF6-B470-831920B3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19EDF-0985-4121-B40C-27768A18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находятся люди и датчики.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Окно и вентиляция связывают комнату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 внешней средой.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CF2B7-7BB6-4FB3-B439-3A19E49F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46863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92AFA-E1CE-4C75-9EC6-61D83E85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46863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BE4CB-644F-407C-85E4-A4084D4C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46863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1B4C7-F86F-4A58-BC1B-93F5CB63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524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E4833-EC58-445F-B01C-3C329918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752600"/>
            <a:ext cx="15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DDC18-8463-4D4E-9FD5-E5B38150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505200"/>
            <a:ext cx="152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7386A-C05A-4397-A35B-4935A93F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67000"/>
            <a:ext cx="2286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7D0B4-D4E9-4536-92A3-B228E5D4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86100"/>
            <a:ext cx="1143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32731-76E8-4EBE-B66F-B76EE096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A6864-1DCE-474A-A9B8-1660148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289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5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наружная среда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1B887-A6EE-4012-B544-68F042D7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528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наружные</a:t>
            </a:r>
          </a:p>
          <a:p xmlns:a="http://schemas.openxmlformats.org/drawingml/2006/main">
            <a:pPr algn="l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показатели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8765E-D8E6-4428-AD1A-BADCB01C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744" y="2850642"/>
            <a:ext cx="104013" cy="104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81EEA-A5E9-4EBC-BB1D-0DAA432E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4655"/>
            <a:ext cx="9525" cy="2080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74D16-0236-48F0-8FBE-F3D6219A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737" y="3028950"/>
            <a:ext cx="20802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16893-B5D1-45DE-8D82-8B20FA4D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455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A5F2C-6AF8-41F2-BA21-1FA48CEF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55725-5FC3-47C2-AF7A-4BEDA3D4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094" y="2850642"/>
            <a:ext cx="104013" cy="104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7754F-1EA3-4C20-AD08-2904DFF0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4655"/>
            <a:ext cx="9525" cy="2080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FC2C0-9719-4A4E-8AEB-40C4DBC0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087" y="3028950"/>
            <a:ext cx="20802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64AE8-379A-46BC-BB86-F8BC41A1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805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1AAB39-EED4-489C-976A-270DD069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210F71-F37E-4AD6-A48E-AC780DAA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люди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C756FB-1D35-4EE9-8D61-D33455B5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123" y="2885123"/>
            <a:ext cx="325755" cy="325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CF1F5-5172-499E-AE88-FEB85D8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708" y="2993708"/>
            <a:ext cx="108585" cy="108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CB6615-2169-427A-B09D-2AF68846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81" y="3048000"/>
            <a:ext cx="1266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BE2DF6-F5DA-470E-B849-94615F6E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536" y="3048000"/>
            <a:ext cx="1266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40ED21-2522-4D4B-8FF8-0C2E5B6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21781"/>
            <a:ext cx="9525" cy="126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556589-1E99-44A1-A90F-9E4211F4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7536"/>
            <a:ext cx="9525" cy="126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CE5784-30A6-4963-8E0E-7500B5C4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24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 воздуха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90CD7B-12D2-4EBD-8EFD-5A0BC9EE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CO₂ / PM2.5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0A01FC-337E-49EB-9F1B-C38FE7CC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386C6E-1A18-4D48-AD59-99B9B6EE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2A0EF4-5072-4D67-B79F-4167305F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1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1CCE00-3688-4458-A2C8-DAD749FD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333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761378-E15F-4990-BE96-B664FE84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33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39" idx="2"/>
            <a:endCxn xmlns:a="http://schemas.openxmlformats.org/drawingml/2006/main" id="40" idx="6"/>
          </p:cNvCxnSpPr>
          <p:nvPr/>
        </p:nvCxnSpPr>
        <p:spPr>
          <a:xfrm xmlns:a="http://schemas.openxmlformats.org/drawingml/2006/main" flipH="1">
            <a:off x="5295900" y="23431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46AB9B-67C2-4143-9D13-9BD2E9BF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81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FDE2CC-FEEB-4882-A47B-CD3E0085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181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5" name=""/>
          <p:cNvCxnSpPr>
            <a:stCxn xmlns:a="http://schemas.openxmlformats.org/drawingml/2006/main" id="42" idx="6"/>
            <a:endCxn xmlns:a="http://schemas.openxmlformats.org/drawingml/2006/main" id="43" idx="2"/>
          </p:cNvCxnSpPr>
          <p:nvPr/>
        </p:nvCxnSpPr>
        <p:spPr>
          <a:xfrm xmlns:a="http://schemas.openxmlformats.org/drawingml/2006/main">
            <a:off x="5305425" y="4191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DC450E-7C28-481D-9846-862AB9F9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760105-1B92-4B26-9C81-3D0E6BF0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8" name=""/>
          <p:cNvCxnSpPr>
            <a:stCxn xmlns:a="http://schemas.openxmlformats.org/drawingml/2006/main" id="45" idx="2"/>
            <a:endCxn xmlns:a="http://schemas.openxmlformats.org/drawingml/2006/main" id="46" idx="6"/>
          </p:cNvCxnSpPr>
          <p:nvPr/>
        </p:nvCxnSpPr>
        <p:spPr>
          <a:xfrm xmlns:a="http://schemas.openxmlformats.org/drawingml/2006/main" flipH="1">
            <a:off x="10601325" y="28956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2C6003-9C68-4051-937B-E9825E2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4EBCB3-9A09-40F7-9E33-A5902C15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48" idx="6"/>
            <a:endCxn xmlns:a="http://schemas.openxmlformats.org/drawingml/2006/main" id="49" idx="2"/>
          </p:cNvCxnSpPr>
          <p:nvPr/>
        </p:nvCxnSpPr>
        <p:spPr>
          <a:xfrm xmlns:a="http://schemas.openxmlformats.org/drawingml/2006/main">
            <a:off x="10601325" y="3238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97B8DD-630B-43E1-9DBB-BEB8726F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19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3306B2-F161-4951-A234-739C8F0E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19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4" name=""/>
          <p:cNvCxnSpPr>
            <a:stCxn xmlns:a="http://schemas.openxmlformats.org/drawingml/2006/main" id="51" idx="6"/>
            <a:endCxn xmlns:a="http://schemas.openxmlformats.org/drawingml/2006/main" id="52" idx="2"/>
          </p:cNvCxnSpPr>
          <p:nvPr/>
        </p:nvCxnSpPr>
        <p:spPr>
          <a:xfrm xmlns:a="http://schemas.openxmlformats.org/drawingml/2006/main">
            <a:off x="8239125" y="30289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7415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B2B24D-FE7C-4900-92E3-4AF85FAE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изменения внутри комнаты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04A0EC-2129-443C-8815-10ED9F5E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F09F84-DDF6-4D7D-B849-6FF229B2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A2267E-B38F-4912-A85C-57035500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НОРМАТИВНАЯ РАМКА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571380-1132-494A-90A4-E2BE8BD1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76925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СанПиН 1.2.3685-21, СП 60.13330.2020 и ASHRAE связывают качество воздуха с микроклиматом и вентиляцией.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91C240-D7C4-4272-B6DC-0BFEBDA9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B39500-4261-43A0-8E01-E731CCD0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29339B-A3A6-4C0F-94E1-4D4EF01D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2072180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22EA8F-7F3F-4CFE-883D-A9D114B0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Текущего значения недостаточно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17811-0B0E-440D-8A72-3D3C9554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14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сдвигает</a:t>
            </a:r>
          </a:p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раньше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E4DF6-CDA3-4985-92AD-7C019AF1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ТЕКУЩИЙ 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638DF-BDB3-44B4-8ED7-BE09B497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действие после изменения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9525C-FE8E-44D7-85E6-4B6BC30C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384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3F1C9-5E12-4CEC-B120-5C663E3C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BD677-EEAB-45AD-9AC0-51755CEA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CD8E6-9B36-42E3-9A89-BB41633E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текущее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значение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6B417-AEAD-4DA9-8F53-C1DC3318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F6E12-24FF-4C2B-BCE2-1790A8A8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84CD1-2FE7-4FB9-9257-FC49AA75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рост CO₂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58457-E123-4C04-83CD-4D05E001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AA87F-3C29-4104-9E3E-776F4D5E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4907B-CEB7-45ED-A759-F77B72B2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человек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замечает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B1149-AE3D-4071-9C8D-353F4F5D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A468E-88B7-4B17-ABE9-5E9A5C26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98954-9636-4F3A-8A6A-952B5BE1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7ECC1-DEDA-4710-8DB2-AB378BD4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0B003-0ABA-4D75-A3C3-F1B6D41E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3F9B3-BE4B-475B-9D51-B7F059FB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492C3-EB0E-45A7-BC31-8C6839A7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реакция начинается после изменения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FB2205-6671-4701-9A5C-D1EC9EE6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ЦЕЛЕВОЙ СЦЕНАРИЙ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C83FE-C2BA-4C65-B61D-EF602D57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прогноз добавляет момент для решения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9D8A0-12C5-40FC-9085-75F01150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9535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D2719-DCE0-42BF-AA1C-2C0C2A3D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8D4175-A3E0-48E8-8B52-8E5E47C6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3F0E6-B873-406A-821B-05F3267D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показания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8BBD4-90A3-494C-8508-979BC4A8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4B7A27-770E-4F05-8047-895C5472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EC7598-026D-40C8-9C54-70FDE2AF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минут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184EE6-8218-4696-9CFE-3200743E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534B4-2F57-47A4-984F-2BE3909E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F0F7C-B6F5-4613-846A-B58DDC26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420710-62B3-47EA-B604-346B950B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B15CFF-5CAD-45CC-84C1-B8210751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4A2FFC-E261-4784-A48C-93AB231B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команда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7FA831-2048-4EE3-9F5A-3A9ECF7D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B98440-3540-4B14-A309-476DC028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9D659B-453D-403F-85FD-CC751B8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подтверждение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02ECF8-EFE2-4D36-A11B-8B270653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95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2F6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E700A2-C745-4815-9BA3-7CA0E78F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критический рост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CD1F24-1D3D-4863-BF3A-4E46D74E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r">
              <a:def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появляется до критического роста и остаётся проверяемым.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D15C8B-FC9C-4849-B4E1-292073B0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DCB6DE-AE19-43A0-86D4-0FA1A07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ПРАКТИЧЕСКАЯ ЗАДАЧА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EA6B58-B29D-4CB8-BB02-7D5CFF0D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0075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измерение, прогноз, рекомендацию и управление в одном локальном контуре.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C0AE4F-FE10-47B9-95DB-D821D9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ABCAFB-5758-4FF9-894E-1BA36C1C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BBB26F-ED88-4CF2-968B-7A004A9A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119694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90A511F-CB75-4EE0-B69F-E0CE30C6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Аналоги закрывают отдельные части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481BB-74B5-40F6-B695-FBF6306E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AirCheck объединяет всю цепочку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D7B54-F52E-4CAB-8215-6CE2C1A0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Матрица показывает заявленные возможности в масштабе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E45A4-A81F-4E1E-9D20-9AE38132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93ABE-3A54-4664-96F6-52D847F7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E2544-370A-4DDF-9DD6-345FB8D5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ИЗМЕРЕНИЕ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40EA0-436D-4005-BDAC-472FE1EE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ИНТЕЛЛЕКТ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AAAA7-899F-4C18-92B4-8CDD1581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1971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ДЕЙСТВИЕ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6B562-0FB6-48DD-B968-8ABE2074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52600"/>
            <a:ext cx="1266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A93F8-1CBF-48C7-A67E-6731EF9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AC813-0602-45A7-B11A-43A792D7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7B91E-6152-4EAE-92AF-B1464E4E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1D64A-378F-4E72-9632-557569EA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0DBF9-9865-481D-B126-71560AAC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76450"/>
            <a:ext cx="847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827B8-6560-437A-86EC-D474D799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7F279-0135-4485-9385-4D5368A7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A8ED8-B2A7-4704-A4C5-AE7F8B68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7FDAE-27A8-4C90-93AD-C76B0DE5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076450"/>
            <a:ext cx="1266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Локально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5F829-F62A-49C3-97E1-FB064B2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48A86-C8D1-4500-BA4E-66749BE4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DC627-0781-487D-99EE-7817D76F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D0D41-4811-4557-97E7-71ABC344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602E4C-EDA6-4657-9810-98AF32C9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Aranet4 HOME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B514D-6DF3-4348-9C85-CE2E90B7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241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T, RH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9AF6DE-E239-4D93-8382-1818EFDE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241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35FDBF-ECA3-414E-9887-0A03900B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F11DEC-A67E-434D-BC0A-D4F21095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F100DD-BAF2-4149-86A3-7A1EE00D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4F149-4E8E-41BA-A3A3-79BA0B01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241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319613-0476-43AD-A2A3-62AA5BD9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241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6498B9-9B19-477C-B586-9490E074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47DC47-781E-43CC-AA91-21FBC94B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Airthings View Plus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9A0ADB-A18C-4BF6-89E3-3F626C9A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9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3DA45C-077E-4349-ACC6-4DC08198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476459-DB6A-4351-AF53-0464DB19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990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5BA7A5-A7CC-4C96-8B78-7B4E5775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602436-19B0-4BB5-9062-33377BB8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E7CCA4-0E91-48D3-A2A6-45F2DED9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09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1147E7-9EAE-421E-9851-EAC214C1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F35E3E-5273-4044-8B7E-ADA8D68F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85AD4B-1D9F-42D9-9EC8-D2EDDC05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Sanobreeze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58652A-1387-4B3B-A9A6-E9A8E618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956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A1EA40-B743-4299-8EC2-A2680F54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956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CFC9F1-EDF1-451F-99B4-EBD3D58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9567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0C2C57-88AC-4C20-97B1-1052437F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3C2730-B7FE-4A9D-95DB-D1B2630B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72414C-4CEA-4003-B522-5C08B74F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956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8F1EFE-049E-498D-8985-A0A8506E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9567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92D406-0382-43AC-9266-2127F38B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4AE48A-A318-4FF8-9D82-FAE9C9F4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AirGradient ONE / Open Air +</a:t>
            </a:r>
          </a:p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Home Assistant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E0F7CE-FA07-4C55-A071-A62E450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814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18CC56-527C-4BFA-8BF3-E7A162DD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814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0D917A-B663-4B30-8B35-9E561ADE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8145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FAF85D-6E72-4C18-B317-A1F776F7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CBB11E-3FB4-4A42-BEA5-F79C122C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8764CF9-20EE-4734-942B-6026B934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981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FA6BF5-875D-469A-AA73-34FB324A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814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8831B7-B934-4213-8AF5-785C182F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E7E659-E8D8-4CFE-8431-7520256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DB83CA-EA7F-423B-80B0-0BC0987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672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719BB0-9456-44A6-9B73-F7572A19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672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875AEA-B79F-4F26-A9A8-C2A24324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672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F3A769-6DC1-43FB-A773-6ACD6916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4E6775-E4AA-432D-8F4D-7DD07E2C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2380BB-A734-48AF-8926-DFA2020C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672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AB04435-7A4A-4408-9846-44308013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672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091054-75EA-4F8B-B9F8-27D36A7E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318E86-0EE2-4965-9155-77851BB7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17860C-04A5-4869-B6A2-FDB9F16F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+ заявлено или реализовано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1D5A5F-9719-4D24-A409-58B240DE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 не заявлено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BC6C1E-6240-48DF-AB19-6080A968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± частичная поддержка или настройка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6D86F2-231C-490A-A453-049D4D3C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Сравнение по официальным описаниям решений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22CD5A-A773-4791-A07D-9E39CACA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CC4067-65B1-4604-A6F7-253131CC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92F8A1-3A40-4E3E-A55F-01AC140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525209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DECD5A-E674-4EEC-A443-C059F791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 связывает измерение с действием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5720F-F739-41D5-B1B8-BBA39192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23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СИГНАЛЬНЫЙ ПУТЬ ПРОГРАММНОГО ПРОТОТИПА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331CE-27D7-4326-A826-325F21F8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действие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5E2F3-D5B6-4B0E-BF97-70264C31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31856-E351-4EC6-8B90-34B531DD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E5CD6-52C4-4159-AA72-A9C32FE3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1876425" y="257175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8241D-7F36-483D-B5EB-7C4396B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332E7-27BD-4803-A2C7-421AEB9F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6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3981450" y="25717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F63C8-C5C5-4572-AE09-2F6A5262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32A73-2F0C-4221-92E1-DDFD1CEE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6086475" y="2571750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A0C98-956B-4EC7-8DD1-ECA5DEA1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96FCB-8669-4760-81AC-65BBDAF7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2" name=""/>
          <p:cNvCxnSpPr>
            <a:stCxn xmlns:a="http://schemas.openxmlformats.org/drawingml/2006/main" id="14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8181975" y="25717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D5002-A551-466F-8002-4606354E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/ ИСТОЧНИК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B6D1B-4EBE-40A0-AABE-04D95FD2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" y="2417445"/>
            <a:ext cx="308610" cy="308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4A22F-4520-47B9-B21A-EE9478E1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25203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639C5-1AEA-453B-835B-EF04C285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CDC1D-D00C-421E-AC14-CE34C3EF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54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FC8B66-BB95-4F47-95B9-EB14B93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5743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7D025-F3B2-4A61-A63F-80582124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604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C1F82-E7CC-4E68-899F-87C1BB85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B0F9AF-B2C4-4A73-800D-AAAECECF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223833-1064-4814-8F54-B8995B6E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FA138-8B29-4374-ACB5-64EBF954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02409E-9433-438D-896C-A881F8EB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и снаружи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83D53-DC0C-480B-AC2D-6CF82D7E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 / ХРАНЕНИЕ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B34E41-D447-4678-88B6-E9D1DA45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D2CF91-8EDF-4F9E-926E-67C2B49D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A09153-B5C4-4957-8694-DC4F38D9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99ACB6-7628-45EE-847D-8B49179C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38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13145E-0762-4311-B9EE-EE8693D1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E0D1A9-47F4-49FC-A6B2-BB5B975B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71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AB3431-7C88-4B5A-9FF7-EFED1B4D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031669-085C-4F0A-91A4-AF700FC7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03 / АНАЛИЗ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DA5CFB-B14A-4024-BCC9-8E5D8AE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41BD64-67D3-4E59-AF7C-0F6E4202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574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8D2042-FB6A-418A-AA45-E1346D00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71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EFA359-A9A3-46DB-96A9-110218D3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CO₂ / 15 минут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BB1CD1-2271-41E6-B976-5C7BC455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04 / РЕШЕНИЕ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74ABCF-2601-416D-8140-158EE2A7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95525"/>
            <a:ext cx="552450" cy="552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6D31F5-E1B3-4B93-A69A-9AF35F4B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0E1E70-749D-481C-B262-FF3034A8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346949-5981-42D3-85BF-BC09AAB4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05 / ИСПОЛНЕНИЕ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18ADB2-CF10-4059-8ED8-A052078A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B2ECBD-F16F-4CD5-A506-1963B213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1714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6C4261-7D4A-4657-BB16-27100A55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191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57F92D-D73F-4CBF-B92A-461F08E9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BA69DE-4D2C-4906-BD88-251ED26B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8" name=""/>
          <p:cNvCxnSpPr>
            <a:stCxn xmlns:a="http://schemas.openxmlformats.org/drawingml/2006/main" id="50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10734675" y="2857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54EA93-3A2D-4324-8200-E62BD07E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514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5E35E5-213E-4F53-840E-C5C259BB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BB5F76-BD0C-4331-97FA-19EDFB24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2" name=""/>
          <p:cNvCxnSpPr>
            <a:stCxn xmlns:a="http://schemas.openxmlformats.org/drawingml/2006/main" id="54" idx="6"/>
            <a:endCxn xmlns:a="http://schemas.openxmlformats.org/drawingml/2006/main" id="55" idx="2"/>
          </p:cNvCxnSpPr>
          <p:nvPr/>
        </p:nvCxnSpPr>
        <p:spPr>
          <a:xfrm xmlns:a="http://schemas.openxmlformats.org/drawingml/2006/main">
            <a:off x="10429875" y="32385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2CE646-6BAB-44AB-91B7-38DE164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514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1A5BDB-08C4-442F-B30E-E88CA871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148250-006D-4810-A665-C0F2661A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6" name=""/>
          <p:cNvCxnSpPr>
            <a:stCxn xmlns:a="http://schemas.openxmlformats.org/drawingml/2006/main" id="58" idx="6"/>
            <a:endCxn xmlns:a="http://schemas.openxmlformats.org/drawingml/2006/main" id="59" idx="2"/>
          </p:cNvCxnSpPr>
          <p:nvPr/>
        </p:nvCxnSpPr>
        <p:spPr>
          <a:xfrm xmlns:a="http://schemas.openxmlformats.org/drawingml/2006/main">
            <a:off x="10429875" y="36195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480136-5615-482D-A87E-E5682518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81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14BE0F-E453-400B-98D0-E4DD2369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62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563FB5-AEDB-4A87-81C8-9C1600AD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43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22E137-DC4C-42D1-8F06-750E6D82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E4155B-B65A-4CA6-BD51-73F69C12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01F260-1F21-4D98-9BC2-0234482A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РУЧНОЕ УПРАВЛЕНИЕ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6FBA52-0AF0-4CDF-AD27-8065DD84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Команда оператора сохраняется до следующего решения.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987ADC3-BF51-4DF1-8EEE-65644726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95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837DA3-A75D-4CE0-8B12-7C668A23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52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DESIRED / REPORTED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378D0D-B676-41A2-8CA9-10DC9C76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Состояние считается изменённым только после подтверждения узла.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EB2A68-C4E9-49BE-A528-1C592DCD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0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6237689-B32A-40A4-81A6-11C18F90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9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ONLINE / STALE / OFFLINE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69A5FE4-F306-46B5-B9D0-9410C5B8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67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49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Ожидающая команда остаётся в очереди.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607E799-323C-4E96-BB8E-F6D69F1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730CF69-A236-437A-AB83-062C2416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460799-FA34-40D6-B6E0-B02F13C5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1089548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C576E-6483-4087-8642-8A6AA613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Цель и 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69F67-053B-415E-938B-AA96F6F4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ОБЪЁМ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86943-3845-413B-B0F7-EAFC1F32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Проверить локальный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сценарий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для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826E3-0313-4AB9-9B1A-DD350178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2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по данным датчиков оценивает состояние воздуха, прогнозирует изменение CO₂ и поддерживает ручное или автоматическое управление проветриванием.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6D5E4-2ED8-4468-B553-4F958E3C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47800"/>
            <a:ext cx="95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11F0D-0DC3-47A5-974D-67AE74F5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 УЖЕ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C1AC6-3919-4EE4-87E7-5C04E67C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панель, REST-контракт, PostgreSQL, прогноз, рекомендации, очередь команд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427B9-E3DA-4964-B8DD-E0C1D600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A2350-237A-44D9-B94A-AA187665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02  ПРОВЕРЯЕТСЯ В ДИПЛОМНОЙ РАБОТЕ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33356-2E46-444E-A66D-022A6B9D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рост CO₂, ручное управление окном, автоматическое проветривание, подтверждение состояния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D0AC2-5C6F-42FE-ADE4-F7CEC9F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DF107-96EE-463B-BF8A-0F668AA6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  ВНЕ ТЕКУЩЕГО ЭТАПА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3873B-B19B-4CD5-B617-86E3EB6B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физическая ESP32, реальные датчики, фильтр, моторы, механизм окна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15FFB-4154-48D6-A7C3-11E7B075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программный прототип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A42E0-6DD4-4001-ABE9-33456C9B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95A88-5BD8-408F-B1B5-118AFB6E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149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18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физическое подключение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8E75C-FC40-40BC-9CA4-DDF0617B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8626A-DF2C-47A3-99B1-B49D4425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данные датчиков, прогноз и подтверждённое действие в одном локальном контуре.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5E416-06F0-4C2A-9FAA-BE110EC0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480A34-56A3-489C-88A0-87EBA0DC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9D00D-91C8-4A41-963E-19C84D46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466661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2026-09-11T14:52:44.8630000Z</dcterms:created>
  <dcterms:modified xsi:type="dcterms:W3CDTF">2026-09-11T14:52:44.8630000Z</dcterms:modified>
</coreProperties>
</file>