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e5e5e1547147c2" /><Relationship Type="http://schemas.openxmlformats.org/officeDocument/2006/relationships/extended-properties" Target="/docProps/app.xml" Id="R326abc45d1a2483d" /><Relationship Type="http://schemas.openxmlformats.org/officeDocument/2006/relationships/officeDocument" Target="/ppt/presentation.xml" Id="Rbaf1dae0fcd646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7eb4d383004bff"/>
  </p:sldMasterIdLst>
  <p:notesMasterIdLst>
    <p:notesMasterId xmlns:r="http://schemas.openxmlformats.org/officeDocument/2006/relationships" r:id="Rf450d7cbedf44801"/>
  </p:notesMasterIdLst>
  <p:sldIdLst>
    <p:sldId xmlns:r="http://schemas.openxmlformats.org/officeDocument/2006/relationships" id="256" r:id="R54af753eb31f4539"/>
    <p:sldId xmlns:r="http://schemas.openxmlformats.org/officeDocument/2006/relationships" id="257" r:id="R81882c4a3b264311"/>
    <p:sldId xmlns:r="http://schemas.openxmlformats.org/officeDocument/2006/relationships" id="258" r:id="R48ee253c6fd94452"/>
    <p:sldId xmlns:r="http://schemas.openxmlformats.org/officeDocument/2006/relationships" id="259" r:id="R68c0ad8e9e064a37"/>
    <p:sldId xmlns:r="http://schemas.openxmlformats.org/officeDocument/2006/relationships" id="260" r:id="Rd6b0286ca1da4d61"/>
    <p:sldId xmlns:r="http://schemas.openxmlformats.org/officeDocument/2006/relationships" id="261" r:id="R0e6d1c5944b047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741d62a03f40f0" /><Relationship Type="http://schemas.openxmlformats.org/officeDocument/2006/relationships/slideMaster" Target="/ppt/slideMasters/slideMaster1.xml" Id="R587eb4d383004bff" /><Relationship Type="http://schemas.openxmlformats.org/officeDocument/2006/relationships/notesMaster" Target="/ppt/notesMasters/notesMaster1.xml" Id="Rf450d7cbedf44801" /><Relationship Type="http://schemas.openxmlformats.org/officeDocument/2006/relationships/presProps" Target="/ppt/presProps.xml" Id="Rc261963f7917401e" /><Relationship Type="http://schemas.openxmlformats.org/officeDocument/2006/relationships/tableStyles" Target="/ppt/tableStyles.xml" Id="R5bb26f6be0074df3" /><Relationship Type="http://schemas.openxmlformats.org/officeDocument/2006/relationships/slide" Target="/ppt/slides/slide1.xml" Id="R54af753eb31f4539" /><Relationship Type="http://schemas.openxmlformats.org/officeDocument/2006/relationships/slide" Target="/ppt/slides/slide2.xml" Id="R81882c4a3b264311" /><Relationship Type="http://schemas.openxmlformats.org/officeDocument/2006/relationships/slide" Target="/ppt/slides/slide3.xml" Id="R48ee253c6fd94452" /><Relationship Type="http://schemas.openxmlformats.org/officeDocument/2006/relationships/slide" Target="/ppt/slides/slide4.xml" Id="R68c0ad8e9e064a37" /><Relationship Type="http://schemas.openxmlformats.org/officeDocument/2006/relationships/slide" Target="/ppt/slides/slide5.xml" Id="Rd6b0286ca1da4d61" /><Relationship Type="http://schemas.openxmlformats.org/officeDocument/2006/relationships/slide" Target="/ppt/slides/slide6.xml" Id="R0e6d1c5944b047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00c031156542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f690f87ee54b9b" /><Relationship Type="http://schemas.openxmlformats.org/officeDocument/2006/relationships/notesMaster" Target="/ppt/notesMasters/notesMaster1.xml" Id="R85b8e1a87c8441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bafc1f3e1f4bb3" /><Relationship Type="http://schemas.openxmlformats.org/officeDocument/2006/relationships/notesMaster" Target="/ppt/notesMasters/notesMaster1.xml" Id="R0a2598a7242545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aa41e41a3f4bed" /><Relationship Type="http://schemas.openxmlformats.org/officeDocument/2006/relationships/notesMaster" Target="/ppt/notesMasters/notesMaster1.xml" Id="Rbba50a61be3a41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5088b34c764a2a" /><Relationship Type="http://schemas.openxmlformats.org/officeDocument/2006/relationships/notesMaster" Target="/ppt/notesMasters/notesMaster1.xml" Id="R5cc66f80948146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dc4bbcfe55443e" /><Relationship Type="http://schemas.openxmlformats.org/officeDocument/2006/relationships/notesMaster" Target="/ppt/notesMasters/notesMaster1.xml" Id="Rb4908dad882942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e4b210f9ff4026" /><Relationship Type="http://schemas.openxmlformats.org/officeDocument/2006/relationships/notesMaster" Target="/ppt/notesMasters/notesMaster1.xml" Id="Rba19644e2c6e43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слайда основано на фактической архитектуре AirCheck: README.md, docs/ml.md и docs/ТЗ-поправка-03-climate-control.md. Значения 780 ppm и 15 минут используются как аннотации. Визуальный ассет комнаты создан специально для этой презентации и не содержит текста.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https://www.epa.gov/indoor-air-quality-iaq/indoor-pollutants-and-sources ; https://www.ashrae.org/technical-resources/bookstore/standards-62-1-62-2 ; https://www.consultant.ru/document/cons_doc_LAW_375839/ ; https://protect.gost.ru/sp/details/b00f766e-b861-4cc7-a448-c65906490262 . Визуальный ассет комнаты создан специально для этой презентации и не содержит текста.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Логика сравнения основана на описании проблемы и ограничений AirCheck в docs/актуальность-темы.md. Научный контекст по кратковременному воздействию CO₂: https://www.sciencedirect.com/science/article/pii/S036013232300358X . Практические ограничения воздухообмена: https://www.epa.gov/indoor-air-quality-iaq/improving-indoor-air-quality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аналогов: https://help.aranet.com/aranet4/aranet4-home/general/what-does-the-aranet4-do ; https://www.airthings.com/en/view-plus ; https://www.rylosystems.com/en_US/products/sanobreeze-co2-vent-controller ; https://www.airgradient.com/home-assistant/ ; https://www.home-assistant.io/docs/automation . Знак минус показывает отсутствие заявленной функции в выбранных материалах, а не невозможность интеграции.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Фактическая архитектура и состояния подтверждения: README.md, docs/ml.md и docs/ТЗ-поправка-03-climate-control.md. В проекте различаются desired и reported состояния, очередь команд и статусы online, stale, offline.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Границы проекта сверены с README.md, docs/актуальность-темы.md и docs/ТЗ-поправка-03-climate-control.md. Физическая ESP32, реальные датчики, фильтр, моторы и механизм окна на текущем этапе не подключены; simulator использует предусмотренный REST-контракт.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a38aacec184a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d3bfc522274420" /><Relationship Type="http://schemas.openxmlformats.org/officeDocument/2006/relationships/slideLayout" Target="/ppt/slideLayouts/slideLayout1.xml" Id="R8022e621c8ec40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22e621c8ec40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cd5f52f994d17" /><Relationship Type="http://schemas.openxmlformats.org/officeDocument/2006/relationships/image" Target="/ppt/media/image.png" Id="R982d06c39a074746" /><Relationship Type="http://schemas.openxmlformats.org/officeDocument/2006/relationships/notesSlide" Target="/ppt/notesSlides/notesSlide1.xml" Id="Rc0f20bb44d8d44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c8bd211a24dd4" /><Relationship Type="http://schemas.openxmlformats.org/officeDocument/2006/relationships/image" Target="/ppt/media/image2.png" Id="R91624495589e422f" /><Relationship Type="http://schemas.openxmlformats.org/officeDocument/2006/relationships/notesSlide" Target="/ppt/notesSlides/notesSlide2.xml" Id="R0ad983ad5a2a4e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2c29ba1bb43d1" /><Relationship Type="http://schemas.openxmlformats.org/officeDocument/2006/relationships/notesSlide" Target="/ppt/notesSlides/notesSlide3.xml" Id="Recabeaa7347444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70342d5954b34" /><Relationship Type="http://schemas.openxmlformats.org/officeDocument/2006/relationships/notesSlide" Target="/ppt/notesSlides/notesSlide4.xml" Id="Rdd499e8a41864b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d54a4068c4dfb" /><Relationship Type="http://schemas.openxmlformats.org/officeDocument/2006/relationships/notesSlide" Target="/ppt/notesSlides/notesSlide5.xml" Id="Rc35e7d56a9d842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cd9c2b3e842eb" /><Relationship Type="http://schemas.openxmlformats.org/officeDocument/2006/relationships/notesSlide" Target="/ppt/notesSlides/notesSlide6.xml" Id="R9232acf59e4c43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31FB5E-57D1-404A-AF88-4F5B423C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ДИПЛОМНЫЙ ПРОЕКТ / AIRCHECK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CB6A9-CAF7-4AFD-ACC5-87419EA4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C87FE-C054-491F-BE5B-A30336BC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4953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Мониторинг и управление</a:t>
            </a:r>
          </a:p>
          <a:p xmlns:a="http://schemas.openxmlformats.org/drawingml/2006/main">
            <a:pPr algn="l">
              <a:def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качеством воздуха</a:t>
            </a:r>
          </a:p>
          <a:p xmlns:a="http://schemas.openxmlformats.org/drawingml/2006/main">
            <a:pPr algn="l">
              <a:def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 помещении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B05D8-2744-4112-A2E5-EFDC7D88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Интеллектуальная IoT-система на основе прогноза CO₂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F41CB-9BD8-4065-B212-C22C2F96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5BB97-9E60-4847-A0DB-6EC7E590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ОДНА КОМНАТА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D1C0E-DB7A-4924-B296-D7BC7FBE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локальный узел, история, прогноз, действие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848C1-506D-4BE6-AE88-189E4B0F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Система превращает состояние помещения в проверяемый рабочий контур.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d06c39a074746"/>
          <a:stretch xmlns:a="http://schemas.openxmlformats.org/drawingml/2006/main"/>
        </p:blipFill>
        <p:spPr>
          <a:xfrm xmlns:a="http://schemas.openxmlformats.org/drawingml/2006/main">
            <a:off x="5334000" y="1318854"/>
            <a:ext cx="6381750" cy="359164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71ED0-8EFC-422B-BC4E-A59CA4EE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62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ПОМЕЩЕНИЕ / ROOM-01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35EE4-FD3B-442D-A975-BD9BED88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193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CO₂ 780 ppm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1F5D5-B6C8-4D31-9F71-57697215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81275"/>
            <a:ext cx="20955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3B82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FC7BF-CB14-4B9C-BF42-ECA6A2B2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578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прогноз через 15 минут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1428A-32BA-4494-AD07-A2C58FC6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67300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3B82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9376F-3C0B-4228-B218-2EA33A63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007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локальный контур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F1EC0-0A76-4849-9123-1A0413E2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A8FD4B-7EEC-43B3-A775-355E737B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517988-8DA0-41C1-B567-4D41BF2E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01 / 06</a:t>
            </a:r>
          </a:p>
        </p:txBody>
      </p:sp>
    </p:spTree>
    <p:extLst>
      <p:ext uri="{BB962C8B-B14F-4D97-AF65-F5344CB8AC3E}">
        <p14:creationId xmlns:p14="http://schemas.microsoft.com/office/powerpoint/2010/main" val="13553415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3AB7C4-724C-49DF-93C0-D497C0B2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Параметры воздуха меняются в течение дня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B71B2-4963-4414-AD97-918ACA8D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757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Состояние комнаты зависит от условий</a:t>
            </a:r>
          </a:p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внутри и снаружи.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0ADE8-3D41-428B-99AF-B7D2F9EC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 и PM2.5 могут расти постепенно.</a:t>
            </a:r>
          </a:p>
          <a:p xmlns:a="http://schemas.openxmlformats.org/drawingml/2006/main">
            <a:pPr algn="l">
              <a:def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Без измерений изменение легко пропустить.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72318-C467-464E-87AC-C79C5369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ОДНА КОМНАТА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A3030-A33F-4083-8331-D95140D3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Внутри находятся люди и датчики.</a:t>
            </a:r>
          </a:p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Окно и вентиляция связывают комнату</a:t>
            </a:r>
          </a:p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с внешней средой.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24495589e422f"/>
          <a:stretch xmlns:a="http://schemas.openxmlformats.org/drawingml/2006/main"/>
        </p:blipFill>
        <p:spPr>
          <a:xfrm xmlns:a="http://schemas.openxmlformats.org/drawingml/2006/main">
            <a:off x="5572125" y="1352550"/>
            <a:ext cx="5715000" cy="3810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697AC-90CC-41E8-BAFA-0D6CDDE4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ПОМЕЩЕНИЕ / ROOM-01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FF8A9-7B4B-41FB-B064-E854B4DA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288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ВЫТЯЖКА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EA0E7-7248-45C3-AFE9-D4A86113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434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ПРИТОК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C2220-F584-4F52-A5F4-CF159E6D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0101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ОКНО / НАРУЖНАЯ СРЕДА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F88FC-CEA6-411F-872D-8FE450A1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197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 / PM2.5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BCB90-8C41-4CE6-BF0A-6C08D511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06000-8FC1-448A-84F6-8249EA02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НОРМАТИВНАЯ РАМКА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8FC6B-2BF8-41AB-8A23-7202B375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876925"/>
            <a:ext cx="828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СанПиН 1.2.3685-21, СП 60.13330.2020 и ASHRAE связывают качество воздуха с микроклиматом и вентиляцией.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7D5C5-F28F-4D16-A976-636041E4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9103B-D01D-4462-8FFB-682F6908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67431-16F3-4296-8F5C-11093A14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02 / 06</a:t>
            </a:r>
          </a:p>
        </p:txBody>
      </p:sp>
    </p:spTree>
    <p:extLst>
      <p:ext uri="{BB962C8B-B14F-4D97-AF65-F5344CB8AC3E}">
        <p14:creationId xmlns:p14="http://schemas.microsoft.com/office/powerpoint/2010/main" val="308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F75320-3DF2-42CA-9ADF-3F5377C5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Текущего значения недостаточно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BD220-0549-4A42-9AB4-242D1919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43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14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Прогноз сдвигает</a:t>
            </a:r>
          </a:p>
          <a:p xmlns:a="http://schemas.openxmlformats.org/drawingml/2006/main">
            <a:pPr algn="l">
              <a:def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решение раньше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408B8-3EC7-4E9C-8E2C-0C2516A9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ТЕКУЩИЙ СЦЕНАРИЙ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315BE-03D5-4150-9CB2-01889500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действие после изменения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F8B0D-89DA-4717-BB06-FB9A7B71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384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330F8-498E-4210-BCE0-33AE30DA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8715E-4732-4DE9-82F0-AA8C07B4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331CA-A83D-46CF-9F92-CF470587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текущее</a:t>
            </a:r>
          </a:p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значение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86755-F7BC-43FB-99D4-189816F2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DD335-68B3-4C92-BA4B-1FABF572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AD63D-6205-44BA-9FF5-71274414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рост CO₂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A7CF1-E526-40C0-BE04-40AB40A0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A47AD-2B51-4E5A-8E5A-D5A8566E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6B167-5197-4110-8F17-7C2000E6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человек</a:t>
            </a:r>
          </a:p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замечает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C0EC2-70FD-4C0E-BD61-D4198307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E281E-1651-4CA8-A572-578C1154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D68AD-02B1-4DEF-AA68-39436AAE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вентиляция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1AC087-730D-45BD-ACF1-C439C2EC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099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98989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095CBC-1A51-4F0D-A1BE-9D831066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98989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CB6F5-ECA6-4C8D-9437-6A9C7CE9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00B76-1492-443C-AF3E-C5787496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90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реакция начинается после изменения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4C6012-2A7E-4A7B-8CBE-3FD90A73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ЦЕЛЕВОЙ СЦЕНАРИЙ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BF35CE-1B11-43A9-A10B-B01F597E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прогноз добавляет момент для решения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0E8B65-AE4E-4199-91B7-FF5022A9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9535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C930EB-E4CC-42FD-ABB9-86C96BAF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623A0D-DCF2-43EC-A93B-F452A39A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195942-5F5B-414B-8364-7366739C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показания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962B75-C0B3-46C6-9E11-7AB0D6AF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347F84-419E-4DAF-8A2E-13CEEEBA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606F82-0C72-41B8-84C6-521ECDB3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прогноз</a:t>
            </a:r>
          </a:p>
          <a:p xmlns:a="http://schemas.openxmlformats.org/drawingml/2006/main">
            <a:pPr algn="ctr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15 минут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26E677-7DCC-4AB8-A544-7BB20003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D17487-EDAC-490E-B7CD-9B96CA80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6889B7-1FFA-4974-B653-FB7487FE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рекомендация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CEF4DF-72FE-44C0-B63C-A2C126B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B3C303-8210-439A-92CD-C6C0623F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AB1C18-6405-41BF-B058-F2585C94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команда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F54F19-67B2-42B1-867B-DC97CDB7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476F24-6980-4763-B57D-6AC68F71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4A43AA-0615-4907-9A1C-2562B18A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подтверждение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D7DC60-8835-46B5-BD67-D8C058C5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86250"/>
            <a:ext cx="952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82F6"/>
            </a:solidFill>
            <a:prstDash val="dash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41A806-E6E4-49B0-80FE-49A138AA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критический рост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CF27B9-AF61-4AC8-8593-E1896734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29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33"/>
          </a:bodyPr>
          <a:lstStyle xmlns:a="http://schemas.openxmlformats.org/drawingml/2006/main"/>
          <a:p xmlns:a="http://schemas.openxmlformats.org/drawingml/2006/main">
            <a:pPr algn="r">
              <a:defRPr sz="1163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Решение появляется до критического роста и остаётся проверяемым.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7FC578-423A-4DBF-9793-CF592EE3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979FD6-451D-42E2-96FC-DD40DEAE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ПРАКТИЧЕСКАЯ ЗАДАЧА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175E15-20E1-464F-A829-5468D60D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000750"/>
            <a:ext cx="771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Связать измерение, прогноз, рекомендацию и управление в одном локальном контуре.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F179B3-1EE8-4D30-82C4-D87BBC44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442841-C027-47AE-BE74-C110D899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1E817B-36E5-4E90-AB99-2823205C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03 / 06</a:t>
            </a:r>
          </a:p>
        </p:txBody>
      </p:sp>
    </p:spTree>
    <p:extLst>
      <p:ext uri="{BB962C8B-B14F-4D97-AF65-F5344CB8AC3E}">
        <p14:creationId xmlns:p14="http://schemas.microsoft.com/office/powerpoint/2010/main" val="9065335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40C77C8-C62B-4953-A287-1C351FD0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Аналоги закрывают отдельные части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B4DEE-3F50-4643-816D-80F0BA44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AirCheck объединяет всю цепочку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08A65-F34A-4E30-8A6D-F01D4EF5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Матрица показывает заявленные возможности в масштабе одной комнаты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69467-7D54-4DEF-B8DD-C1CAC00F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6DB40-D289-410C-A9C5-2679493F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A6462-2FE8-4FCC-A254-0793B546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526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ИЗМЕРЕНИЕ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9FC5D-A9F6-41FF-AD6A-1F57F0A9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5260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ИНТЕЛЛЕКТ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880E2-6313-4909-815B-E7FF4046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1971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ДЕЙСТВИЕ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6857E-9570-4875-A48B-8107911D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752600"/>
            <a:ext cx="1266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ЛОКАЛЬНОСТЬ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7903D-B1AE-4A20-A8F6-1955831F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29460-8B28-4BAC-BEAA-3464B479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58258-782C-4D3E-8114-7124ED94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Датчики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BD257-A4B9-49D4-94FD-6D21F8BF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764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История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0BF67-5C73-4824-8146-0E60394C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76450"/>
            <a:ext cx="847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Прогноз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1A8112-F90B-4F25-BE8A-CC7836AB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0764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Рекомендация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58387-C370-4A8F-B169-471E5C62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Вентиляция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0DE78-68BB-4E1E-BEEA-E57C7C10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764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Окно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84B4DC-B162-4710-8FDD-BDB32EB0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076450"/>
            <a:ext cx="1266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Локально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10F7C-5C21-4701-A497-489A5147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4841F-C557-405A-A020-8D883080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145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EA9EFA-70D3-46F3-B6B4-5803A93E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697EA9-15FF-44F9-B66B-1A23EE85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7145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45AFF5-8AD5-4F21-A68A-77A7ABE6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Aranet4 HOME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3C6B94-471C-4753-943E-BD510152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241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T, RH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E116C7-20AF-40CB-9534-91DC4FCB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241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871E51-43EA-40F4-BF77-817BC018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241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267256-695B-4E36-AECD-EA59D7CE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241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BE8C0C-3EFB-4370-8B00-15B22CB9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54FAB-E4A7-465B-996D-F49BCFB8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5241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92FE01-BA64-41B4-BD42-9FC989A0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2412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871B1C-B5A3-4508-9945-990E7946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888F9A-4057-4DA5-9F97-C555A136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Airthings View Plus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615C02-1309-4EF6-9FD5-E18D67F2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099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PM2.5, T/RH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1122C3-1A0D-4193-A5B0-CF7C31C3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09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14E32A-1A5F-4732-9FC5-6061F73F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9900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33A885-170B-464E-8673-E89A7FF4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00990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DC37AC-8608-438F-A5D5-92190ADD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990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E080DE-0205-4863-A214-CCD3B18B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0099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90E59B-D0F3-4170-A138-B555DAEF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09C296-4C0A-4C06-8BA6-13B37227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AE73A1-F37A-437E-88C0-04122AA2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Sanobreeze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1B6A8F-D1EE-4EE1-8E92-222238EA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956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10837D-288B-450C-96BF-D8C3C433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956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586D03-CF65-4472-9187-B6069D63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9567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37E788-D2FE-41D2-B85F-4DCD2C1C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49567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C87E8D-6A92-4A3E-81C6-6ADE40D9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9567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F2EDB8-BC56-4C74-8A52-E0E7D09A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956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D35AF2-5CFC-41FD-96CC-EBCA8F49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9567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B2BE03-A394-4C5F-8DEF-FEFD9AC7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886BCC-B230-458E-8F28-DC0944D1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AirGradient ONE / Open Air +</a:t>
            </a:r>
          </a:p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Home Assistant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6FD7F8-8F03-419F-A45B-90957C32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814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PM2.5, T/RH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4D88AC-1D87-4947-919C-75FD49A4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814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2A7FC4-78E4-4877-9543-B4C0D4EC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81450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0E6E28-6727-4C57-8C30-EF772425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98145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DFBAF9-BF48-49F5-8AF0-ED0C1C27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8145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673A71F-69E4-4D32-9F15-E3F212DF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981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CF2E46B-B388-4AD8-844B-F294E313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9814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1E4269-86FC-469C-AF80-BE813F89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F3966C-6635-4D5C-A15D-B9A6E20D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3CD7B91-ED54-4B3A-8BF4-638AE826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672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PM2.5, T/RH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C0E7C92-E1F3-4DDA-83D6-65ED493B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672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99B4C27-5AFB-4AB2-8A2F-7D84CA79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672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28D4AEC-B29A-4C6E-9372-25459DEF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4672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C81A050-5D72-4BC4-8393-B38A1B24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672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D966E12-A498-4428-ADEE-1DCAAFAC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4672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2D495AB-2681-48FC-83F3-0F82B7F4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46722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D268543-509E-42BB-BCBC-F246F0B7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2A33721-F394-4599-89B4-1353211E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85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3AD8418-09A3-445A-812E-831977F6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+ заявлено или реализовано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7FAFBCA-0EB8-452A-AC63-3056E6A3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149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 не заявлено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4C0480C-A704-4B18-82D2-7AC1EBDA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149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± частичная поддержка или настройка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626DC43-9B40-4F5B-A1C6-3DBE746F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14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Сравнение по официальным описаниям решений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B44C724-FACA-452C-9190-A5675E56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1B21B5B-EB26-47C1-8A29-DD0293B0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80C2847-2066-4B73-941D-C2A49306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04 / 06</a:t>
            </a:r>
          </a:p>
        </p:txBody>
      </p:sp>
    </p:spTree>
    <p:extLst>
      <p:ext uri="{BB962C8B-B14F-4D97-AF65-F5344CB8AC3E}">
        <p14:creationId xmlns:p14="http://schemas.microsoft.com/office/powerpoint/2010/main" val="12955883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243B0F2-40F0-4EE9-8806-F8F0C00C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AirCheck связывает измерение с действием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7DA8F-123F-4CA1-A9BA-CF1A87F5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05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23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СИГНАЛЬНЫЙ ПУТЬ ПРОГРАММНОГО ПРОТОТИПА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A3CCE-FCB3-41A9-B378-21F9E341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7175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A10DD-DD55-4438-9626-ED1744F4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86212-6B45-4041-9691-95E59E32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0" name=""/>
          <p:cNvCxnSpPr>
            <a:stCxn xmlns:a="http://schemas.openxmlformats.org/drawingml/2006/main" id="4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1876425" y="2571750"/>
            <a:ext cx="1600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98989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A36A0-3DC0-43AD-AC7E-3BACE070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6972C-0E0B-4F38-A1C1-3FE19B75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3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3981450" y="2571750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98989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22099-90E0-4CF3-ADC6-F11C9C46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5294B-FB87-495F-A66D-A755D3A5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6" name=""/>
          <p:cNvCxnSpPr>
            <a:stCxn xmlns:a="http://schemas.openxmlformats.org/drawingml/2006/main" id="10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6086475" y="2571750"/>
            <a:ext cx="15430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A87A3-20DE-4E1B-8345-00B4468F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DE1B3-3D95-4C03-BF03-673B1291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9" name=""/>
          <p:cNvCxnSpPr>
            <a:stCxn xmlns:a="http://schemas.openxmlformats.org/drawingml/2006/main" id="13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>
            <a:off x="8181975" y="2571750"/>
            <a:ext cx="15430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8F3A6-2CAF-44BF-B115-08109A04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01 / ИСТОЧНИК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8EF100-0ABE-493B-BEBD-F077A9B4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" y="2417445"/>
            <a:ext cx="308610" cy="3086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B82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1B31BE-B12B-4931-B920-A23EEA08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" y="2520315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EF05BD-4FEF-4DF0-BB14-5F608E74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2571750"/>
            <a:ext cx="12001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A80FA-03A7-486D-A10C-DAE28F6A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548" y="2571750"/>
            <a:ext cx="12001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37C7FE-38FA-4D43-86D8-CBAB4578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57438"/>
            <a:ext cx="9525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42EFE8-6994-4C7E-9171-56368BB5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6048"/>
            <a:ext cx="9525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2DDC4B-D9DD-4798-9717-38FC7C58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6BE523-B76E-47A3-AD66-F99CCEED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84B993-BDAD-4361-8A5F-D263F933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BE8A3B-8354-4874-8B59-AA3F8178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датчики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CDC293-2971-4CA1-990F-19DE2A05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внутри и снаружи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03B04E-A586-4108-A437-F87C5F20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02 / ХРАНЕНИЕ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205299-5538-4BE3-BABA-1D666220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1333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692AE3-746E-468D-B7D2-580C2846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1333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29CB3F-086C-43D0-A512-93678646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381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679FCF-101E-4579-9604-6BA0CA0F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381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6BC4A5-FD20-4F20-A5EC-13E712FC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381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03DAA0-FC69-400C-93B9-A68408C2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71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история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4C2C71-F39C-4EE2-ABEA-CEEF0F40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14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0E0AC2-10C1-416F-82B1-E40F6606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76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03 / АНАЛИЗ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F6A262-7E9E-4C27-B794-D7ECD93F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7768FC-759F-4FCB-BB97-5AFD3906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574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15 мин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F244A2-9054-444B-88EB-FEFE4CFD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71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прогноз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2EBBBB-38CA-4953-8252-9E741C14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14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CO₂ / 15 минут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F5D321-AA93-4DDE-A1C8-59098F05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76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04 / РЕШЕНИЕ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82521A-88EB-4C71-BE8A-1F2F1464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295525"/>
            <a:ext cx="552450" cy="552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C0E90F-5E99-4125-8452-AAB705B4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1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46D744-E903-41A1-8EAF-D6CCD6A9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14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рекомендация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05281C-27DE-4CA0-BBDA-4228AA80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76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05 / ИСПОЛНЕНИЕ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FBF32A-1D54-422B-8131-785A2355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27FC1F-48AB-4351-AA13-58D27DD8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71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команды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CB6021-A51E-4E16-AC9B-DD238F79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0"/>
            <a:ext cx="47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B82F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BCA4BD-1607-48F4-B352-C2F57767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0"/>
            <a:ext cx="1714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8BFC0E-EEF5-4BBD-829C-96D94631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847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344892-9AE6-4EFA-9C66-D577EEE3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47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26" name=""/>
          <p:cNvCxnSpPr>
            <a:stCxn xmlns:a="http://schemas.openxmlformats.org/drawingml/2006/main" id="50" idx="6"/>
            <a:endCxn xmlns:a="http://schemas.openxmlformats.org/drawingml/2006/main" id="51" idx="2"/>
          </p:cNvCxnSpPr>
          <p:nvPr/>
        </p:nvCxnSpPr>
        <p:spPr>
          <a:xfrm xmlns:a="http://schemas.openxmlformats.org/drawingml/2006/main">
            <a:off x="10582275" y="28575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470679-AFA2-4EA0-8557-03B1973C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6DEE5EC-8B9E-4625-8411-E7E11468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29" name=""/>
          <p:cNvCxnSpPr>
            <a:stCxn xmlns:a="http://schemas.openxmlformats.org/drawingml/2006/main" id="53" idx="6"/>
            <a:endCxn xmlns:a="http://schemas.openxmlformats.org/drawingml/2006/main" id="54" idx="2"/>
          </p:cNvCxnSpPr>
          <p:nvPr/>
        </p:nvCxnSpPr>
        <p:spPr>
          <a:xfrm xmlns:a="http://schemas.openxmlformats.org/drawingml/2006/main">
            <a:off x="10582275" y="32385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CF52AF5-28AC-4FD8-8B5F-19A054EE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3609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AD3AA2-8C8B-470B-8BDA-987DE97E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609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32" name=""/>
          <p:cNvCxnSpPr>
            <a:stCxn xmlns:a="http://schemas.openxmlformats.org/drawingml/2006/main" id="56" idx="6"/>
            <a:endCxn xmlns:a="http://schemas.openxmlformats.org/drawingml/2006/main" id="57" idx="2"/>
          </p:cNvCxnSpPr>
          <p:nvPr/>
        </p:nvCxnSpPr>
        <p:spPr>
          <a:xfrm xmlns:a="http://schemas.openxmlformats.org/drawingml/2006/main">
            <a:off x="10582275" y="36195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AC33FC-DAB9-43E2-8E1B-84747AC1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7813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вытяжка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CBF2C0E-1D32-4644-8F20-0AA76277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1623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приток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B5E9142-38FA-4A89-80DB-98470AB1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5433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окно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D3675C1-5BDF-4EE7-80E8-0B3CD1FD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9E25330-94B8-45DA-A890-00667AC8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EF8F859-9E89-4362-92BE-1CBBECC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433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D53E0AF-FC87-48D1-B002-FCD39341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BE76D22-88A3-4EF4-AF82-32C87E31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РУЧНОЕ УПРАВЛЕНИЕ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F1BF068-84C3-4372-9B32-9E0C778D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Команда оператора сохраняется до следующего решения.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BED04FD-9DEE-4C43-97F9-D03A3C0B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719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DESIRED / REPORTED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BD08BA5-D0BB-4C59-93F5-099B5337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196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Состояние считается изменённым только после подтверждения узла.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5255678-4EFD-49B0-AB31-56D63CFC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1719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ONLINE / STALE / OFFLINE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A23389B-0B4F-4B9F-B411-B928A6A1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4196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Ожидающая команда остаётся в очереди.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C1B13DC-B3B3-417F-8742-67736D44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FD9C87D-9644-4A8B-B374-F32D8264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1FCC72D-7A3F-4828-A58E-220727A5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05 / 06</a:t>
            </a:r>
          </a:p>
        </p:txBody>
      </p:sp>
    </p:spTree>
    <p:extLst>
      <p:ext uri="{BB962C8B-B14F-4D97-AF65-F5344CB8AC3E}">
        <p14:creationId xmlns:p14="http://schemas.microsoft.com/office/powerpoint/2010/main" val="8151791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C0B159-F662-43B4-A01C-790D0B8E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Цель и границы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E46BA-BC61-4A1F-8769-C180A588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00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ОБЪЁМ 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DCA28-9037-45CB-A10F-657A62DF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4953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Проверить локальный</a:t>
            </a:r>
          </a:p>
          <a:p xmlns:a="http://schemas.openxmlformats.org/drawingml/2006/main">
            <a:pPr algn="l">
              <a:def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сценарий</a:t>
            </a:r>
          </a:p>
          <a:p xmlns:a="http://schemas.openxmlformats.org/drawingml/2006/main">
            <a:pPr algn="l">
              <a:def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для одной комнаты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FA1B4-9B22-49D0-ABCC-E431D770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25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Система по данным датчиков оценивает состояние воздуха, прогнозирует изменение CO₂ и поддерживает ручное или автоматическое управление проветриванием.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7F3DF-D162-4C41-81A0-765E01F8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47800"/>
            <a:ext cx="95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845BF-164D-4524-88E6-2954DDD4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01  УЖЕ РЕАЛИЗОВАНО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EF654-93E7-42D7-B018-CF095F06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панель, REST-контракт, PostgreSQL, прогноз, рекомендации, очередь команд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19CE5-6F6C-4E3A-BF2D-88A5BD13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102FD-5C3B-4065-B796-476521DA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02  ПРОВЕРЯЕТСЯ В ДИПЛОМНОЙ РАБОТЕ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6B476-9D7B-4572-A357-ACBF584F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рост CO₂, ручное управление окном, автоматическое проветривание, подтверждение состояния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B1F62-6E9C-4B4F-A487-C873004B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9376F-83CF-42C7-AE21-74EBF5D5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03  ВНЕ ТЕКУЩЕГО ЭТАПА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49C4D-A80D-4C5B-ABD8-7844821D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физическая ESP32, реальные датчики, фильтр, моторы, механизм окна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C7EE1-4B4A-4940-B10C-8B96ACB0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149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программный прототип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F7B60-8153-4869-92B1-2B213761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00625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FA669-5209-43F2-9F7A-0EF5281F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1490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18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физическое подключение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C27E7-35E5-4089-8E30-B2E13E78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9F2CBA-DA8E-47D9-9854-DDD5B946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9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Связать данные датчиков, прогноз и подтверждённое действие в одном локальном контуре.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720E8-50AA-4774-8C16-809B5A66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D6B1E-23A5-43C7-8147-72A86504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F94A7-45E4-4CDE-B6E2-E96E5F18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06 / 06</a:t>
            </a:r>
          </a:p>
        </p:txBody>
      </p:sp>
    </p:spTree>
    <p:extLst>
      <p:ext uri="{BB962C8B-B14F-4D97-AF65-F5344CB8AC3E}">
        <p14:creationId xmlns:p14="http://schemas.microsoft.com/office/powerpoint/2010/main" val="12737206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2026-09-11T15:46:24.7620000Z</dcterms:created>
  <dcterms:modified xsi:type="dcterms:W3CDTF">2026-09-11T15:46:24.7620000Z</dcterms:modified>
</coreProperties>
</file>