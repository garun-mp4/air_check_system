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377c177d35488c" /><Relationship Type="http://schemas.openxmlformats.org/officeDocument/2006/relationships/extended-properties" Target="/docProps/app.xml" Id="R05c4386523f34ecc" /><Relationship Type="http://schemas.openxmlformats.org/officeDocument/2006/relationships/officeDocument" Target="/ppt/presentation.xml" Id="R66da1ceea6174d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8d82fc5448457d"/>
  </p:sldMasterIdLst>
  <p:notesMasterIdLst>
    <p:notesMasterId xmlns:r="http://schemas.openxmlformats.org/officeDocument/2006/relationships" r:id="Rcd393f071e3547a0"/>
  </p:notesMasterIdLst>
  <p:sldIdLst>
    <p:sldId xmlns:r="http://schemas.openxmlformats.org/officeDocument/2006/relationships" id="256" r:id="R550e61c7973247ff"/>
    <p:sldId xmlns:r="http://schemas.openxmlformats.org/officeDocument/2006/relationships" id="257" r:id="R46331ec7b8be4b35"/>
    <p:sldId xmlns:r="http://schemas.openxmlformats.org/officeDocument/2006/relationships" id="258" r:id="R39aec4188e89448b"/>
    <p:sldId xmlns:r="http://schemas.openxmlformats.org/officeDocument/2006/relationships" id="259" r:id="Reea3f42e24d84792"/>
    <p:sldId xmlns:r="http://schemas.openxmlformats.org/officeDocument/2006/relationships" id="260" r:id="Rd85e466d379246c3"/>
    <p:sldId xmlns:r="http://schemas.openxmlformats.org/officeDocument/2006/relationships" id="261" r:id="R42247632a17e46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f7f78a4fd14176" /><Relationship Type="http://schemas.openxmlformats.org/officeDocument/2006/relationships/slideMaster" Target="/ppt/slideMasters/slideMaster1.xml" Id="Rbd8d82fc5448457d" /><Relationship Type="http://schemas.openxmlformats.org/officeDocument/2006/relationships/notesMaster" Target="/ppt/notesMasters/notesMaster1.xml" Id="Rcd393f071e3547a0" /><Relationship Type="http://schemas.openxmlformats.org/officeDocument/2006/relationships/presProps" Target="/ppt/presProps.xml" Id="R932148c6365149da" /><Relationship Type="http://schemas.openxmlformats.org/officeDocument/2006/relationships/tableStyles" Target="/ppt/tableStyles.xml" Id="Re098d8d4ce8d4461" /><Relationship Type="http://schemas.openxmlformats.org/officeDocument/2006/relationships/slide" Target="/ppt/slides/slide1.xml" Id="R550e61c7973247ff" /><Relationship Type="http://schemas.openxmlformats.org/officeDocument/2006/relationships/slide" Target="/ppt/slides/slide2.xml" Id="R46331ec7b8be4b35" /><Relationship Type="http://schemas.openxmlformats.org/officeDocument/2006/relationships/slide" Target="/ppt/slides/slide3.xml" Id="R39aec4188e89448b" /><Relationship Type="http://schemas.openxmlformats.org/officeDocument/2006/relationships/slide" Target="/ppt/slides/slide4.xml" Id="Reea3f42e24d84792" /><Relationship Type="http://schemas.openxmlformats.org/officeDocument/2006/relationships/slide" Target="/ppt/slides/slide5.xml" Id="Rd85e466d379246c3" /><Relationship Type="http://schemas.openxmlformats.org/officeDocument/2006/relationships/slide" Target="/ppt/slides/slide6.xml" Id="R42247632a17e46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e9d610de044d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d3199326724706" /><Relationship Type="http://schemas.openxmlformats.org/officeDocument/2006/relationships/notesMaster" Target="/ppt/notesMasters/notesMaster1.xml" Id="R08575a31477342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34fae68e0b4bfb" /><Relationship Type="http://schemas.openxmlformats.org/officeDocument/2006/relationships/notesMaster" Target="/ppt/notesMasters/notesMaster1.xml" Id="R0b494bddb71a4a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70deaea74b41f2" /><Relationship Type="http://schemas.openxmlformats.org/officeDocument/2006/relationships/notesMaster" Target="/ppt/notesMasters/notesMaster1.xml" Id="R4ee83f6eb4014f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23adfabaa24897" /><Relationship Type="http://schemas.openxmlformats.org/officeDocument/2006/relationships/notesMaster" Target="/ppt/notesMasters/notesMaster1.xml" Id="R746eab9927ef43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5289b20a27458b" /><Relationship Type="http://schemas.openxmlformats.org/officeDocument/2006/relationships/notesMaster" Target="/ppt/notesMasters/notesMaster1.xml" Id="R13483bafcc4e4a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9f468862124e54" /><Relationship Type="http://schemas.openxmlformats.org/officeDocument/2006/relationships/notesMaster" Target="/ppt/notesMasters/notesMaster1.xml" Id="Radb362ab080444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слайда основано на фактической архитектуре AirCheck: README.md, docs/ml.md и docs/ТЗ-поправка-03-climate-control.md. Значения 780 ppm и 15 минут используются как аннотации. Визуальный ассет комнаты создан специально для этой презентации и не содержит текста.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https://www.epa.gov/indoor-air-quality-iaq/indoor-pollutants-and-sources ; https://www.ashrae.org/technical-resources/bookstore/standards-62-1-62-2 ; https://www.consultant.ru/document/cons_doc_LAW_375839/ ; https://protect.gost.ru/sp/details/b00f766e-b861-4cc7-a448-c65906490262 . Визуальный ассет комнаты создан специально для этой презентации и не содержит текста.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Логика сравнения основана на описании проблемы и ограничений AirCheck в docs/актуальность-темы.md. Научный контекст по кратковременному воздействию CO₂: https://www.sciencedirect.com/science/article/pii/S036013232300358X . Практические ограничения воздухообмена: https://www.epa.gov/indoor-air-quality-iaq/improving-indoor-air-quality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аналогов: https://help.aranet.com/aranet4/aranet4-home/general/what-does-the-aranet4-do ; https://www.airthings.com/en/view-plus ; https://www.rylosystems.com/en_US/products/sanobreeze-co2-vent-controller ; https://www.airgradient.com/home-assistant/ ; https://www.home-assistant.io/docs/automation . Знак минус показывает отсутствие заявленной функции в выбранных материалах, а не невозможность интеграции.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Фактическая архитектура и состояния подтверждения: README.md, docs/ml.md и docs/ТЗ-поправка-03-climate-control.md. В проекте различаются desired и reported состояния, очередь команд и статусы online, stale, offline.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Границы проекта сверены с README.md, docs/актуальность-темы.md и docs/ТЗ-поправка-03-climate-control.md. Физическая ESP32, реальные датчики, фильтр, моторы и механизм окна на текущем этапе не подключены; simulator использует предусмотренный REST-контракт.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93ea4515b49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646eaf2cde42b7" /><Relationship Type="http://schemas.openxmlformats.org/officeDocument/2006/relationships/slideLayout" Target="/ppt/slideLayouts/slideLayout1.xml" Id="Ra9a2a2e03d2444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a2a2e03d24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6d032d1b041f7" /><Relationship Type="http://schemas.openxmlformats.org/officeDocument/2006/relationships/image" Target="/ppt/media/image.png" Id="R40501bfcee4b4a8f" /><Relationship Type="http://schemas.openxmlformats.org/officeDocument/2006/relationships/notesSlide" Target="/ppt/notesSlides/notesSlide1.xml" Id="Re9a18881215246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702bf65ce4bae" /><Relationship Type="http://schemas.openxmlformats.org/officeDocument/2006/relationships/image" Target="/ppt/media/image2.png" Id="Re243ace849a64120" /><Relationship Type="http://schemas.openxmlformats.org/officeDocument/2006/relationships/notesSlide" Target="/ppt/notesSlides/notesSlide2.xml" Id="R3ed88d9c1c5544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dcba9e0e946dc" /><Relationship Type="http://schemas.openxmlformats.org/officeDocument/2006/relationships/notesSlide" Target="/ppt/notesSlides/notesSlide3.xml" Id="Re19c80b949c741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abe14193449a2" /><Relationship Type="http://schemas.openxmlformats.org/officeDocument/2006/relationships/notesSlide" Target="/ppt/notesSlides/notesSlide4.xml" Id="R928b7e398b7243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086070ace4564" /><Relationship Type="http://schemas.openxmlformats.org/officeDocument/2006/relationships/notesSlide" Target="/ppt/notesSlides/notesSlide5.xml" Id="R85a3e5f46b174d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e37b476d0489b" /><Relationship Type="http://schemas.openxmlformats.org/officeDocument/2006/relationships/notesSlide" Target="/ppt/notesSlides/notesSlide6.xml" Id="R8728608e4de54e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06BEF-B325-4C59-B6A2-ECFF215D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ДИПЛОМНЫЙ ПРОЕКТ / AIRCHECK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109C3-0205-48D1-B6C6-89B13728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C010F-8B40-425C-B0C3-A752DEE7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4953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Мониторинг и управление</a:t>
            </a:r>
          </a:p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качеством воздуха</a:t>
            </a:r>
          </a:p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 помещении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2A766-768B-491F-B732-2615264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Интеллектуальная IoT-система на основе прогноза CO₂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77906-B2DB-4A05-AB55-35BB205D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12A4B-BB15-4E9B-A4B3-8C0B4C74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ОДНА КОМНАТА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839E8-AD65-4191-8073-7CD668B3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локальный узел, история, прогноз, действие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68B5D-14B9-40A9-B36A-E6DE2B0E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Система превращает состояние помещения в проверяемый рабочий контур.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01bfcee4b4a8f"/>
          <a:stretch xmlns:a="http://schemas.openxmlformats.org/drawingml/2006/main"/>
        </p:blipFill>
        <p:spPr>
          <a:xfrm xmlns:a="http://schemas.openxmlformats.org/drawingml/2006/main">
            <a:off x="5334000" y="1318854"/>
            <a:ext cx="6381750" cy="359164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4A5CA-FAAF-475A-9736-65B91F9F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62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ПОМЕЩЕНИЕ / ROOM-01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427C3-B59D-439E-ADA3-E4DD48D1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CO₂ 780 ppm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39855-E8D1-4C06-B63A-0D4F679F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81275"/>
            <a:ext cx="20955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B82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EE9CA-5008-40D1-B365-7F1B18D2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57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 через 15 минут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D8177-CA37-46EE-93E4-BDF080A9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67300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B82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4E1A4-C9B0-4C92-90D3-A12E76E6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007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локальный контур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DB2D6-DAF8-4FB3-8B70-345996FF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487F9-4B7B-4383-8DC1-B45C5BE9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62BF4-328D-4C81-B9A4-40AA7813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1725339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2F625-5A83-4980-965F-C3AB4DDE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Параметры воздуха меняются в течение дня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4F075-7EE2-48CC-9D57-883FE231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75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Состояние комнаты зависит от условий</a:t>
            </a:r>
          </a:p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внутри и снаружи.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2B339-CAB8-4DD3-8F8D-943FF32D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 и PM2.5 могут расти постепенно.</a:t>
            </a:r>
          </a:p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Без измерений изменение легко пропустить.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5C6E4-B87A-44C2-B0BB-DC0EDBE4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ОДНА КОМНАТА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801F7-68D2-4322-B092-11B11A01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Внутри находятся люди и датчики.</a:t>
            </a:r>
          </a:p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Окно и вентиляция связывают комнату</a:t>
            </a:r>
          </a:p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с внешней средой.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3ace849a64120"/>
          <a:stretch xmlns:a="http://schemas.openxmlformats.org/drawingml/2006/main"/>
        </p:blipFill>
        <p:spPr>
          <a:xfrm xmlns:a="http://schemas.openxmlformats.org/drawingml/2006/main">
            <a:off x="5572125" y="1352550"/>
            <a:ext cx="5715000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207ED-EEDF-4643-A683-089436E7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ПОМЕЩЕНИЕ / ROOM-01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0C2BC-0B6E-46A0-B229-38C1D6F5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288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E78F8-1B5C-472A-821D-E94DF8EA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434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05B69-8C50-4D5E-B2E7-57DCDA7B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10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ОКНО / НАРУЖНАЯ СРЕДА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4E2BB-97A5-4B2C-8418-5E2431B7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197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 / PM2.5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AEA49-D99A-4342-9257-C4E00A18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10DB9-946D-4E16-9B63-0FA3B629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НОРМАТИВНАЯ РАМКА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A95C0-D3D7-44AF-A185-569A9463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876925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СанПиН 1.2.3685-21, СП 60.13330.2020 и ASHRAE связывают качество воздуха с микроклиматом и вентиляцией.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2902D-1254-414A-8AB6-16D7A105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3A3B4-2072-495B-9DA9-6FCBA4DC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43320-32A9-4542-A9A4-ED2C3286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693436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E8D852-2DF7-4CE4-8487-C2FAF735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Текущего значения недостаточно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F362C-46F1-4E21-B6C6-8C6B78DF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4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14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 сдвигает</a:t>
            </a:r>
          </a:p>
          <a:p xmlns:a="http://schemas.openxmlformats.org/drawingml/2006/main">
            <a:pPr algn="l">
              <a:def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решение раньше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F5CCC-CF5A-44B1-8B77-3B315912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ТЕКУЩИЙ СЦЕНАРИЙ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028F7-22DF-4CC9-95EE-6BE9153D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действие после изменения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74EC7-1D7E-4770-ACDF-EF6784E3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384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D7748-BE74-4348-B711-4561B792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164DA-C50A-4594-97D3-6D5131ED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FD31D-E87C-4D01-8A8C-5ABECD40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текущее</a:t>
            </a:r>
          </a:p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значение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89EB1-13E0-4E8E-B299-5DD3E70F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0E020-1D4D-4F75-8F5D-CC2D0F23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3416F-44CD-4E65-8383-EF58CF94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рост CO₂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DE87A-4CC8-423D-A9B0-5AA7E2A3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D8EA0-57C1-44C0-A675-F9BDA364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59869-8DE6-4014-9155-87B3EF01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человек</a:t>
            </a:r>
          </a:p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замечает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B9C2D-8F51-4848-8D79-9C50E8FB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4BA80-E581-4112-9CF3-75F14269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A5078-CA00-4800-9A8C-34D76B51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вентиляция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00362-67AA-4A7B-8EAF-294F5571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98989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2B037-98D7-47E5-9A27-045083E4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98989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2ED9B-17BF-4131-A800-BEFFBFFD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AFD41B-717C-4A3F-BB97-9CF25DCD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90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реакция начинается после изменения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B0AB8-2274-4EA3-A1D1-E721122A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ЦЕЛЕВОЙ СЦЕНАРИЙ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55B3E-1210-447F-8E80-930B4C06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прогноз добавляет момент для решения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19D67-B26D-416A-A016-A7281B5C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9535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096446-265A-4ACD-BD1B-5E2BFD86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F2E54B-331A-470F-A1AE-118E16AA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B658C7-6746-4E34-9EB5-8578E003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показания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254061-75C6-4A1C-B2A9-C35983DE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64C983-5B91-445C-870E-B2A59853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F5B109-107A-45B7-A558-2AEAB4EB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15 минут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C3F531-1A47-4171-95F5-FD4F4526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5B4CB7-906F-43B9-80F0-620F5116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34AEB0-C2A0-4FFC-94CC-19817987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E466D3-D376-44CE-A864-6F880662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F959BA-A749-40D8-A106-C068A725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A4DA92-7455-4AD6-B4E6-7272094A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команда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733DF8-2F27-4AAA-A42D-BE68E51E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74CF6D-9E1E-4497-9445-08AD655B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740174-B1A6-4945-8334-1B5A41E4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подтверждение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2E0D5A-FC3B-4ADA-AFBF-39EE2E17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95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2F6"/>
            </a:solidFill>
            <a:prstDash val="dash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D51CFC-894D-4C76-AF41-F53D68F7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критический рост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BBE428-661D-4D0A-9F55-4F3C097E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r">
              <a:defRPr sz="1163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Решение появляется до критического роста и остаётся проверяемым.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A2F535-FE87-4AAE-AF30-EC1FFD29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9D6594-9983-48A6-97FB-59E91AA0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ПРАКТИЧЕСКАЯ ЗАДАЧА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E896FD-40E0-4142-B741-1D624D21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00750"/>
            <a:ext cx="771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Связать измерение, прогноз, рекомендацию и управление в одном локальном контуре.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5E2A88-DF2D-4D1E-8EB3-32500DCC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8D7706-5516-4A98-BE3B-41B92F98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9BF6FF-DE08-4787-9392-356C629E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20234942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B8F18FA-8784-42E3-A0FA-33532FFE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Аналоги закрывают отдельные части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2DB58-6335-4579-973C-70E56E91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AirCheck объединяет всю цепочку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C2563-0025-4943-8755-704F07DF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Матрица показывает заявленные возможности в масштабе одной комнаты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6B5B4-718E-4633-80EE-92D5AB20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78885-8AEB-40B0-87F0-D855A8CF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BDACE-946A-47FF-832B-4349EB83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526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ИЗМЕРЕНИЕ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0ABCD-2A92-4ECD-9FCC-B9ADAAD5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ИНТЕЛЛЕКТ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19A7E-036D-41F4-9AFC-6FB0DDCF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1971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ДЕЙСТВИЕ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2EF65-0D71-4946-A812-253481C4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752600"/>
            <a:ext cx="1266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9C549-4EA0-47D5-9686-F71B7001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CFF07-65F5-4DCD-A198-43187528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006E9-7EC0-4089-A138-EDBA6CAB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Датчики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C07D3-A343-4EB7-BF20-7B05FD5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97AD1-EE06-4596-9836-72CBDD7C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76450"/>
            <a:ext cx="847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12174-A193-44BE-8DF2-299CA155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76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C339E-FC3D-4306-B29D-93417D24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Вентиляция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350F7-144D-4ECA-BE17-5F17C096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76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567E6-BF6B-429D-A5EA-FDFE9C0D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076450"/>
            <a:ext cx="1266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Локально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749A7-BF8A-43DB-87A4-10E7E01C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68AFF-FB98-4583-ACD7-98EECD85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EDDE91-86F1-48CF-B22E-58B3F24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9095E-EFE0-4F70-9461-B1E350BC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FAF7A1-2379-400D-A081-50FDC0A3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Aranet4 HOME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6FB0BD-2196-4774-A404-48626032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241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T, RH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4C43A7-1EF6-443E-95DB-A3E836FB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241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2AEDBF-2CA5-413D-A995-DAB67514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241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8E1AB1-95AC-4F47-87F4-0E589A5E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241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F8F702-179F-4478-AB75-AB39FDDF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7435BA-BF39-458D-ADCB-EE3B1071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241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F716D6-5238-43B9-8FB8-D2F81FDA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2412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343595-535B-4B55-92F4-0B521E8A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93BB7B-2D36-4F33-9671-23BB1C8C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Airthings View Plus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22CCBB-BD48-465B-A278-98A2A9C0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09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60DE59-5C61-418A-B142-38329B98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8C9C99-2F72-4312-B93A-E49C92A5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9900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A05F12-FB65-4225-A9F8-5044E017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00990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9602DE-A125-4DE8-AE40-93BA0D91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02F702-F260-4E7E-8F7E-AD547660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09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2D84FE-BFE5-4BFA-9EF0-33E5ED03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E3550F-690B-468D-88EB-51EE20ED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E33C52-42F5-4E41-8909-517BF30E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Sanobreeze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E7ABDB-16F2-428A-BFDB-84260A14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956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0B24EA-765B-4743-800B-C1423141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956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654847-C112-4EA3-AF83-EA85E06F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9567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1D1F0A-3772-4DB8-90D7-3A5AFDDD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49567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5FE543-7604-4244-93FA-7D73ED39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9567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390F39-8064-458C-9D80-12DC5CC0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956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7B44C3-0FCC-4140-AEA9-3AC0F089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9567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7B85A8-E84B-4812-9C07-FF78E749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D869C5-9E0E-4919-AC13-4FA22E10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AirGradient ONE / Open Air +</a:t>
            </a:r>
          </a:p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Home Assistant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1F40B1-0959-473D-8887-4EBA73DF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814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EA6001-DF3E-43FE-8517-57116643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814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CA128E-6B15-4509-B46A-160EF2FF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81450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F3C7CE-6FF3-4531-9667-5BE3EDA6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98145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C3DF76-D147-4001-9FAF-78C88B77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36CB66-9CED-4E7D-932B-6FECE434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981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08F016-2DA9-4914-808C-302E919F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9814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31AD88-A3B6-4ADA-92C0-42E892C8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908388-627E-47F5-B864-EFB3EDD0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A24E96-0EC2-4F42-AA78-77ACAD09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672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B5C86A2-0E3C-4D3B-B418-A6107E61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672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BD91E3-DCC9-4155-8351-E792508B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672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5CF0FB-E92C-4329-8403-209489F8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4672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FA8A86C-4003-43D6-927C-FEA413F3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672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47D48E-FDC5-4CED-9B45-ACC64616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4672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EA0B59-F27D-4951-BBF3-EB2864D5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46722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79DBDEE-EF7E-43B3-A3A3-9BAF8FA7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49BEE60-43F8-49FD-A14F-89E72C2D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C695949-4FF1-4243-85AD-99098B49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+ заявлено или реализовано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27DB42-AC8C-44F0-801D-9D85A1FA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 не заявлено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9AC9C67-FCC5-4A80-B4EA-52FC0A87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149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± частичная поддержка или настройка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472BFA-AB0A-4124-93DE-AED2C9AB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Сравнение по официальным описаниям решений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A14DD6D-ACD8-4CF0-9B0A-C45A369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943B742-62E0-497C-BA8D-B2CFB1F1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284D07-43C8-41CF-B95E-D70A4DC0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2587736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D6E20E2-3C02-4F58-A429-93C799EF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AirCheck связывает измерение с действием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06CA9-B71D-4E2E-BDB2-C72B4930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05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23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СИГНАЛЬНЫЙ ПУТЬ ПРОГРАММНОГО ПРОТОТИПА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6BAF2-140E-4204-90F8-9B9E5012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431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действие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2F5EC-DFE9-4E3D-A37D-D24B8603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C7A01-9F6E-4076-83E1-1553C7DE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2F77B-791B-4331-A31D-EB7EB303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3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1876425" y="2571750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0A928-A8AB-419D-B303-287EF30A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DC998-2F6B-43A1-9F4C-AF9432BB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6" name=""/>
          <p:cNvCxnSpPr>
            <a:stCxn xmlns:a="http://schemas.openxmlformats.org/drawingml/2006/main" id="8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3981450" y="257175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5FFFD-FFF3-4D78-AB94-4D255D89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2EC1C-B7E9-499B-99F3-79762C5A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9" name=""/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6086475" y="2571750"/>
            <a:ext cx="15430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85A1E-9FCF-461E-987A-5E2B0FB4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ABDBE-9454-41A3-B5CD-B120B414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2" name=""/>
          <p:cNvCxnSpPr>
            <a:stCxn xmlns:a="http://schemas.openxmlformats.org/drawingml/2006/main" id="14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8181975" y="25717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D8B73-95AB-4CBA-AD4A-B357283A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 / ИСТОЧНИК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680F8-707F-4369-9CD6-F4694764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" y="2417445"/>
            <a:ext cx="308610" cy="3086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B82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5900C-50F5-4099-AEAC-F1D77915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252031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DF50E-CC35-48D8-ABA7-D00F28F8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25717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0D360-C941-456D-9713-E8323E4D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548" y="25717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D3DF0-6FED-4A10-8896-D2E11A75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5743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0388BA-1FD9-4620-8EF0-AB0B8570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604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EF655C-7288-461B-98FE-D3565E2F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0FCE3B-0E26-4418-96D9-A32332EC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AD57E6-D821-4020-9DDA-295858A6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69AA3F-80D0-4F7E-8C6C-63B560E7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датчики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4B980F-C6C2-4BBB-91E2-FF179586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внутри и снаружи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65C39D-242A-4D0C-BF2F-6F640B57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 / ХРАНЕНИЕ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276BD2-F054-4A6D-BB88-CFBB738E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1333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1781C5-B328-40D6-8A08-CD92738E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1333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5ADA8C-22B3-4D43-AD33-F7C63485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381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E431F0-AEA8-4FCB-9CA4-E64A928A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381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22955F-CED3-4220-8064-7007A248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381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3B9117-CE47-442A-BF55-B6E30EF1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718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7D6729-4323-4173-B6FA-F3179C1F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6DB2CB-584D-4E9A-BC12-CEF84D9B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03 / АНАЛИЗ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E7291E-A512-45D9-ABBC-073214F2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114450-D0B2-4DA2-A339-72E4E3E4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574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15 мин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F5D6E0-F26D-468F-8B58-3DE87518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718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E478CB-E3E4-460D-A05D-BC461D5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956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CO₂ / 15 минут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70FB1D-9A51-4A29-91B4-4BC0E4DF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04 / РЕШЕНИЕ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7652DA-3689-4EDF-8D7F-E972F840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295525"/>
            <a:ext cx="552450" cy="552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93B243-E703-48CB-B34E-D7ED79AE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718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AF0B63-26EE-4046-BD3C-EFC14393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E5D0EA-B636-44F2-A36B-CC7C3ED6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05 / ИСПОЛНЕНИЕ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85EA88-9E8B-4238-9AD8-FC3D3AD4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72ED5E-5CBD-4919-BC07-70B0FED5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0"/>
            <a:ext cx="1714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1CD766-ADB2-427F-BE7F-3F4903A2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8191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EBC1B0-CA43-4C02-853E-B45E71A5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47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7AC680-8B19-4BD5-933C-34A3CF9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47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8" name=""/>
          <p:cNvCxnSpPr>
            <a:stCxn xmlns:a="http://schemas.openxmlformats.org/drawingml/2006/main" id="50" idx="6"/>
            <a:endCxn xmlns:a="http://schemas.openxmlformats.org/drawingml/2006/main" id="51" idx="2"/>
          </p:cNvCxnSpPr>
          <p:nvPr/>
        </p:nvCxnSpPr>
        <p:spPr>
          <a:xfrm xmlns:a="http://schemas.openxmlformats.org/drawingml/2006/main">
            <a:off x="10734675" y="2857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B34769-CD2E-417D-B079-1DE51D8A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514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0E5805-5EF8-4B94-A504-29EE9FB9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16369D-EC10-4353-9812-EBBC3E34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2" name=""/>
          <p:cNvCxnSpPr>
            <a:stCxn xmlns:a="http://schemas.openxmlformats.org/drawingml/2006/main" id="54" idx="6"/>
            <a:endCxn xmlns:a="http://schemas.openxmlformats.org/drawingml/2006/main" id="55" idx="2"/>
          </p:cNvCxnSpPr>
          <p:nvPr/>
        </p:nvCxnSpPr>
        <p:spPr>
          <a:xfrm xmlns:a="http://schemas.openxmlformats.org/drawingml/2006/main">
            <a:off x="10429875" y="32385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069042-ECB2-43C3-97EF-42942A9A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514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6320C6A-89CB-41B9-BC44-43FAACFE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60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6E62DC-E439-47F8-BF30-26FB23B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60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6" name=""/>
          <p:cNvCxnSpPr>
            <a:stCxn xmlns:a="http://schemas.openxmlformats.org/drawingml/2006/main" id="58" idx="6"/>
            <a:endCxn xmlns:a="http://schemas.openxmlformats.org/drawingml/2006/main" id="59" idx="2"/>
          </p:cNvCxnSpPr>
          <p:nvPr/>
        </p:nvCxnSpPr>
        <p:spPr>
          <a:xfrm xmlns:a="http://schemas.openxmlformats.org/drawingml/2006/main">
            <a:off x="10429875" y="36195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562352-5A53-4784-890D-11AD1F3B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813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80CE88-B93F-497F-8AB1-D90890C7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623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D9BFDD-3EDD-4CEC-A51A-DDE614F0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433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6DB68B-F9D1-4402-ADC3-ACB24D17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54929B5-4C7E-406E-B035-F35041A2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95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E93717-BDAD-4C1F-BF22-11189811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52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РУЧНОЕ УПРАВЛЕНИЕ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365281-09CA-4E61-9D23-A7811571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005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Команда оператора сохраняется до следующего решения.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A3A67D3-9BDD-476D-AC56-9C3F3620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57500"/>
            <a:ext cx="95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F375127-7D7B-4277-A223-28B52F6C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52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DESIRED / REPORTED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EA367D-FE34-4BE3-AF69-04E492BA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00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Состояние считается изменённым только после подтверждения узла.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25B339-C58D-4225-AD66-4F106C9A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0"/>
            <a:ext cx="95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F96C892-72F9-40BB-9E55-042ABB51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19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ONLINE / STALE / OFFLINE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A52705-BAB9-4AAF-8DBE-485EA85D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67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49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Ожидающая команда остаётся в очереди.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5A6BB46-851E-4D54-BE89-3F86C824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64CC8A1-C797-415C-917E-C682655B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D246096-9149-4139-8CCB-47FF8FF2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12717036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51D735-C87D-4EEE-8027-FF9449E1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Цель и границы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B08D0-65C9-48DE-9EA6-0DCD315F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0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ОБЪЁМ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EE180-518E-4E80-A0CE-9BBC4E90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Проверить локальный</a:t>
            </a:r>
          </a:p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сценарий</a:t>
            </a:r>
          </a:p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для одной комнаты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420B3-3B42-4A72-BDD6-81E4E101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2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Система по данным датчиков оценивает состояние воздуха, прогнозирует изменение CO₂ и поддерживает ручное или автоматическое управление проветриванием.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2B28D-D031-4B53-9BC3-F87F6FD6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47800"/>
            <a:ext cx="95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CACB3-9AE9-4F6A-BC74-E8A8781D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  УЖЕ РЕАЛИЗОВАНО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357B1-B9CD-4F97-B30F-3D29BFE6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панель, REST-контракт, PostgreSQL, прогноз, рекомендации, очередь команд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2F0B7-0642-44C3-AFFA-60064D23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47F27-E60F-4C72-BC61-F1E9F993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02  ПРОВЕРЯЕТСЯ В ДИПЛОМНОЙ РАБОТЕ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10DD9-75C4-486F-8591-D555BDF3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рост CO₂, ручное управление окном, автоматическое проветривание, подтверждение состояния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821CB-79AD-469C-9B25-DB69EAD2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1EE00-221E-4D1F-9CC4-1CF2EBF7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  ВНЕ ТЕКУЩЕГО ЭТАПА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790CE-4FF9-4915-91D3-D7FD73CF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физическая ESP32, реальные датчики, фильтр, моторы, механизм окна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3844C-570D-4E2C-801C-64FEB87E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программный прототип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AFCB6-A2DF-4293-A7D5-B5BAB7AA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00625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D26E4-019F-46D2-BC1D-D90AF07C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149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18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физическое подключение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969C7-1C26-4DA4-9942-A3D9A8FB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5C28C7-5A11-42E3-855C-262ED2B7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9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Связать данные датчиков, прогноз и подтверждённое действие в одном локальном контуре.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59B36-1A4C-4300-A1DC-1C3ADD6F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60983-3FA3-4427-9127-ABF86941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62628-709F-4E61-BD4B-E3BC0265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641796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2026-09-11T15:16:48.1730000Z</dcterms:created>
  <dcterms:modified xsi:type="dcterms:W3CDTF">2026-09-11T15:16:48.1730000Z</dcterms:modified>
</coreProperties>
</file>